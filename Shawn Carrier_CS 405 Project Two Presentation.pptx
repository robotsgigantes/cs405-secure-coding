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Century Gothic" panose="020B0502020202020204" pitchFamily="34" charset="0"/>
      <p:regular r:id="rId28"/>
      <p:bold r:id="rId29"/>
      <p:italic r:id="rId30"/>
      <p:boldItalic r:id="rId31"/>
    </p:embeddedFont>
  </p:embeddedFontLst>
  <p:custDataLst>
    <p:tags r:id="rId3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3404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9258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hyperlink" Target="https://github.com/google/googletest/"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hyperlink" Target="https://www.parasoft.com/" TargetMode="External"/><Relationship Id="rId5" Type="http://schemas.openxmlformats.org/officeDocument/2006/relationships/hyperlink" Target="https://clang.llvm.org/" TargetMode="External"/><Relationship Id="rId4" Type="http://schemas.openxmlformats.org/officeDocument/2006/relationships/hyperlink" Target="https://cppcheck.sourceforge.io/"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6.xml"/><Relationship Id="rId7" Type="http://schemas.openxmlformats.org/officeDocument/2006/relationships/hyperlink" Target="https://www.redhat.com/en/topics/devops/what-is-devsecops" TargetMode="Externa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hyperlink" Target="https://lifelock.norton.com/learn/data-breaches/microsoft-exposed-250-million-customer-records" TargetMode="External"/><Relationship Id="rId5" Type="http://schemas.openxmlformats.org/officeDocument/2006/relationships/hyperlink" Target="https://www.ccsinet.com/blog/aaa-identity-management/" TargetMode="External"/><Relationship Id="rId4" Type="http://schemas.openxmlformats.org/officeDocument/2006/relationships/hyperlink" Target="https://www.mimecast.com/blog/data-in-transit-vs-motion-vs-re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656336"/>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Shawn Carrier</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
        <p:nvSpPr>
          <p:cNvPr id="2" name="TextBox 1">
            <a:extLst>
              <a:ext uri="{FF2B5EF4-FFF2-40B4-BE49-F238E27FC236}">
                <a16:creationId xmlns:a16="http://schemas.microsoft.com/office/drawing/2014/main" id="{05AB7D3A-F1A6-5EB0-040A-A738598380A1}"/>
              </a:ext>
            </a:extLst>
          </p:cNvPr>
          <p:cNvSpPr txBox="1"/>
          <p:nvPr/>
        </p:nvSpPr>
        <p:spPr>
          <a:xfrm>
            <a:off x="1371600" y="5576925"/>
            <a:ext cx="9052560" cy="1295739"/>
          </a:xfrm>
          <a:prstGeom prst="rect">
            <a:avLst/>
          </a:prstGeom>
          <a:noFill/>
        </p:spPr>
        <p:txBody>
          <a:bodyPr wrap="square" rtlCol="0">
            <a:spAutoFit/>
          </a:bodyPr>
          <a:lstStyle/>
          <a:p>
            <a:pPr marL="0" lvl="0" indent="0" algn="l" rtl="0">
              <a:lnSpc>
                <a:spcPct val="70000"/>
              </a:lnSpc>
              <a:spcBef>
                <a:spcPts val="1000"/>
              </a:spcBef>
              <a:spcAft>
                <a:spcPts val="0"/>
              </a:spcAft>
              <a:buSzPts val="1850"/>
              <a:buNone/>
            </a:pPr>
            <a:r>
              <a:rPr lang="en-US" dirty="0">
                <a:solidFill>
                  <a:schemeClr val="bg1"/>
                </a:solidFill>
              </a:rPr>
              <a:t>CS 405 Secure Coding</a:t>
            </a:r>
          </a:p>
          <a:p>
            <a:pPr marL="0" lvl="0" indent="0" algn="l" rtl="0">
              <a:lnSpc>
                <a:spcPct val="70000"/>
              </a:lnSpc>
              <a:spcBef>
                <a:spcPts val="1000"/>
              </a:spcBef>
              <a:spcAft>
                <a:spcPts val="0"/>
              </a:spcAft>
              <a:buSzPts val="1850"/>
              <a:buNone/>
            </a:pPr>
            <a:r>
              <a:rPr lang="en-US" i="1" dirty="0">
                <a:solidFill>
                  <a:schemeClr val="bg1"/>
                </a:solidFill>
              </a:rPr>
              <a:t>Mike Prasad</a:t>
            </a:r>
          </a:p>
          <a:p>
            <a:pPr marL="0" lvl="0" indent="0" algn="l" rtl="0">
              <a:lnSpc>
                <a:spcPct val="70000"/>
              </a:lnSpc>
              <a:spcBef>
                <a:spcPts val="1000"/>
              </a:spcBef>
              <a:spcAft>
                <a:spcPts val="0"/>
              </a:spcAft>
              <a:buSzPts val="1850"/>
              <a:buNone/>
            </a:pPr>
            <a:r>
              <a:rPr lang="en-US" i="1" dirty="0">
                <a:solidFill>
                  <a:schemeClr val="bg1"/>
                </a:solidFill>
              </a:rPr>
              <a:t>Southern New Hampshire University</a:t>
            </a:r>
          </a:p>
          <a:p>
            <a:pPr marL="0" lvl="0" indent="0" algn="l" rtl="0">
              <a:lnSpc>
                <a:spcPct val="70000"/>
              </a:lnSpc>
              <a:spcBef>
                <a:spcPts val="1000"/>
              </a:spcBef>
              <a:spcAft>
                <a:spcPts val="0"/>
              </a:spcAft>
              <a:buSzPts val="1850"/>
              <a:buNone/>
            </a:pPr>
            <a:r>
              <a:rPr lang="en-US" i="1" dirty="0">
                <a:solidFill>
                  <a:schemeClr val="bg1"/>
                </a:solidFill>
              </a:rPr>
              <a:t>18 June 2023</a:t>
            </a:r>
          </a:p>
          <a:p>
            <a:endParaRPr lang="en-US"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052943" y="2217942"/>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Google Shape;152;p3">
            <a:extLst>
              <a:ext uri="{FF2B5EF4-FFF2-40B4-BE49-F238E27FC236}">
                <a16:creationId xmlns:a16="http://schemas.microsoft.com/office/drawing/2014/main" id="{AD2CD8AC-6A1E-961F-9175-CC7DF49F73A5}"/>
              </a:ext>
            </a:extLst>
          </p:cNvPr>
          <p:cNvSpPr txBox="1">
            <a:spLocks noGrp="1"/>
          </p:cNvSpPr>
          <p:nvPr/>
        </p:nvSpPr>
        <p:spPr>
          <a:xfrm>
            <a:off x="685800" y="2217942"/>
            <a:ext cx="4270248" cy="407561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685800" lvl="0" indent="0" rtl="0">
              <a:lnSpc>
                <a:spcPct val="90000"/>
              </a:lnSpc>
              <a:spcBef>
                <a:spcPts val="0"/>
              </a:spcBef>
              <a:spcAft>
                <a:spcPts val="0"/>
              </a:spcAft>
              <a:buSzPts val="1800"/>
              <a:buNone/>
            </a:pPr>
            <a:r>
              <a:rPr lang="en-US" dirty="0"/>
              <a:t>Defense in depth is the approach to information security where security mechanisms are carefully, and thoughtfully, layered in order to create stronger protection against attempted attacks, risks, and possible vulnerabilities in a system.</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8" name="Table 7">
            <a:extLst>
              <a:ext uri="{FF2B5EF4-FFF2-40B4-BE49-F238E27FC236}">
                <a16:creationId xmlns:a16="http://schemas.microsoft.com/office/drawing/2014/main" id="{B80E1002-FE9C-1421-E329-357B7C94E0DE}"/>
              </a:ext>
            </a:extLst>
          </p:cNvPr>
          <p:cNvGraphicFramePr>
            <a:graphicFrameLocks noGrp="1"/>
          </p:cNvGraphicFramePr>
          <p:nvPr>
            <p:extLst>
              <p:ext uri="{D42A27DB-BD31-4B8C-83A1-F6EECF244321}">
                <p14:modId xmlns:p14="http://schemas.microsoft.com/office/powerpoint/2010/main" val="2076562613"/>
              </p:ext>
            </p:extLst>
          </p:nvPr>
        </p:nvGraphicFramePr>
        <p:xfrm>
          <a:off x="2832100" y="2057401"/>
          <a:ext cx="6464300" cy="4036230"/>
        </p:xfrm>
        <a:graphic>
          <a:graphicData uri="http://schemas.openxmlformats.org/drawingml/2006/table">
            <a:tbl>
              <a:tblPr/>
              <a:tblGrid>
                <a:gridCol w="1616075">
                  <a:extLst>
                    <a:ext uri="{9D8B030D-6E8A-4147-A177-3AD203B41FA5}">
                      <a16:colId xmlns:a16="http://schemas.microsoft.com/office/drawing/2014/main" val="1130876372"/>
                    </a:ext>
                  </a:extLst>
                </a:gridCol>
                <a:gridCol w="1616075">
                  <a:extLst>
                    <a:ext uri="{9D8B030D-6E8A-4147-A177-3AD203B41FA5}">
                      <a16:colId xmlns:a16="http://schemas.microsoft.com/office/drawing/2014/main" val="196824473"/>
                    </a:ext>
                  </a:extLst>
                </a:gridCol>
                <a:gridCol w="1616075">
                  <a:extLst>
                    <a:ext uri="{9D8B030D-6E8A-4147-A177-3AD203B41FA5}">
                      <a16:colId xmlns:a16="http://schemas.microsoft.com/office/drawing/2014/main" val="2403786237"/>
                    </a:ext>
                  </a:extLst>
                </a:gridCol>
                <a:gridCol w="1616075">
                  <a:extLst>
                    <a:ext uri="{9D8B030D-6E8A-4147-A177-3AD203B41FA5}">
                      <a16:colId xmlns:a16="http://schemas.microsoft.com/office/drawing/2014/main" val="1609306461"/>
                    </a:ext>
                  </a:extLst>
                </a:gridCol>
              </a:tblGrid>
              <a:tr h="403623">
                <a:tc rowSpan="2">
                  <a:txBody>
                    <a:bodyPr/>
                    <a:lstStyle/>
                    <a:p>
                      <a:pPr algn="ctr" rtl="0" fontAlgn="ctr"/>
                      <a:r>
                        <a:rPr lang="en-US" sz="1100" b="0" i="0" u="none" strike="noStrike">
                          <a:solidFill>
                            <a:srgbClr val="000000"/>
                          </a:solidFill>
                          <a:effectLst/>
                          <a:latin typeface="Calibri" panose="020F0502020204030204" pitchFamily="34" charset="0"/>
                        </a:rPr>
                        <a:t>Probability</a:t>
                      </a:r>
                    </a:p>
                  </a:txBody>
                  <a:tcPr marL="9525" marR="9525" marT="9525" marB="0" anchor="ctr">
                    <a:lnL>
                      <a:noFill/>
                    </a:lnL>
                    <a:lnR>
                      <a:noFill/>
                    </a:lnR>
                    <a:lnT>
                      <a:noFill/>
                    </a:lnT>
                    <a:lnB>
                      <a:noFill/>
                    </a:lnB>
                    <a:solidFill>
                      <a:srgbClr val="D9D9D9"/>
                    </a:solidFill>
                  </a:tcPr>
                </a:tc>
                <a:tc gridSpan="3">
                  <a:txBody>
                    <a:bodyPr/>
                    <a:lstStyle/>
                    <a:p>
                      <a:pPr algn="ctr" rtl="0" fontAlgn="b"/>
                      <a:r>
                        <a:rPr lang="en-US" sz="1100" b="0" i="0" u="none" strike="noStrike">
                          <a:solidFill>
                            <a:srgbClr val="000000"/>
                          </a:solidFill>
                          <a:effectLst/>
                          <a:latin typeface="Calibri" panose="020F0502020204030204" pitchFamily="34" charset="0"/>
                        </a:rPr>
                        <a:t>Severity</a:t>
                      </a:r>
                    </a:p>
                  </a:txBody>
                  <a:tcPr marL="9525" marR="9525" marT="9525" marB="0" anchor="ctr">
                    <a:lnL>
                      <a:noFill/>
                    </a:lnL>
                    <a:lnR>
                      <a:noFill/>
                    </a:lnR>
                    <a:lnT>
                      <a:noFill/>
                    </a:lnT>
                    <a:lnB>
                      <a:noFill/>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5170274"/>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High</a:t>
                      </a:r>
                    </a:p>
                  </a:txBody>
                  <a:tcPr marL="9525" marR="9525" marT="9525" marB="0" anchor="ctr">
                    <a:lnL>
                      <a:noFill/>
                    </a:lnL>
                    <a:lnR>
                      <a:noFill/>
                    </a:lnR>
                    <a:lnT>
                      <a:noFill/>
                    </a:lnT>
                    <a:lnB>
                      <a:noFill/>
                    </a:lnB>
                    <a:solidFill>
                      <a:srgbClr val="D9D9D9"/>
                    </a:solidFill>
                  </a:tcPr>
                </a:tc>
                <a:tc>
                  <a:txBody>
                    <a:bodyPr/>
                    <a:lstStyle/>
                    <a:p>
                      <a:pPr algn="ctr" rtl="0" fontAlgn="b"/>
                      <a:r>
                        <a:rPr lang="en-US" sz="1100" b="0" i="0" u="none" strike="noStrike">
                          <a:solidFill>
                            <a:srgbClr val="000000"/>
                          </a:solidFill>
                          <a:effectLst/>
                          <a:latin typeface="Calibri" panose="020F0502020204030204" pitchFamily="34" charset="0"/>
                        </a:rPr>
                        <a:t>Medium</a:t>
                      </a:r>
                    </a:p>
                  </a:txBody>
                  <a:tcPr marL="9525" marR="9525" marT="9525" marB="0" anchor="ctr">
                    <a:lnL>
                      <a:noFill/>
                    </a:lnL>
                    <a:lnR>
                      <a:noFill/>
                    </a:lnR>
                    <a:lnT>
                      <a:noFill/>
                    </a:lnT>
                    <a:lnB>
                      <a:noFill/>
                    </a:lnB>
                    <a:solidFill>
                      <a:srgbClr val="D9D9D9"/>
                    </a:solidFill>
                  </a:tcPr>
                </a:tc>
                <a:tc>
                  <a:txBody>
                    <a:bodyPr/>
                    <a:lstStyle/>
                    <a:p>
                      <a:pPr algn="ctr" rtl="0" fontAlgn="b"/>
                      <a:r>
                        <a:rPr lang="en-US" sz="1100" b="0" i="0" u="none" strike="noStrike">
                          <a:solidFill>
                            <a:srgbClr val="000000"/>
                          </a:solidFill>
                          <a:effectLst/>
                          <a:latin typeface="Calibri" panose="020F0502020204030204" pitchFamily="34" charset="0"/>
                        </a:rPr>
                        <a:t>Low</a:t>
                      </a: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3119247586"/>
                  </a:ext>
                </a:extLst>
              </a:tr>
              <a:tr h="403623">
                <a:tc rowSpan="5">
                  <a:txBody>
                    <a:bodyPr/>
                    <a:lstStyle/>
                    <a:p>
                      <a:pPr algn="ctr" rtl="0" fontAlgn="ctr"/>
                      <a:r>
                        <a:rPr lang="en-US" sz="1100" b="0" i="0" u="none" strike="noStrike">
                          <a:solidFill>
                            <a:srgbClr val="000000"/>
                          </a:solidFill>
                          <a:effectLst/>
                          <a:latin typeface="Calibri" panose="020F0502020204030204" pitchFamily="34" charset="0"/>
                        </a:rPr>
                        <a:t>Likely</a:t>
                      </a:r>
                    </a:p>
                  </a:txBody>
                  <a:tcPr marL="9525" marR="9525" marT="9525" marB="0" anchor="ctr">
                    <a:lnL>
                      <a:noFill/>
                    </a:lnL>
                    <a:lnR>
                      <a:noFill/>
                    </a:lnR>
                    <a:lnT>
                      <a:noFill/>
                    </a:lnT>
                    <a:lnB>
                      <a:noFill/>
                    </a:lnB>
                    <a:solidFill>
                      <a:srgbClr val="D9D9D9"/>
                    </a:solidFill>
                  </a:tcPr>
                </a:tc>
                <a:tc>
                  <a:txBody>
                    <a:bodyPr/>
                    <a:lstStyle/>
                    <a:p>
                      <a:pPr algn="ctr" rtl="0" fontAlgn="b"/>
                      <a:r>
                        <a:rPr lang="en-US" sz="1100" b="0" i="0" u="none" strike="noStrike">
                          <a:solidFill>
                            <a:srgbClr val="000000"/>
                          </a:solidFill>
                          <a:effectLst/>
                          <a:latin typeface="Calibri" panose="020F0502020204030204" pitchFamily="34" charset="0"/>
                        </a:rPr>
                        <a:t>STD-001-CPP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extLst>
                  <a:ext uri="{0D108BD9-81ED-4DB2-BD59-A6C34878D82A}">
                    <a16:rowId xmlns:a16="http://schemas.microsoft.com/office/drawing/2014/main" val="2582994768"/>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STD-002-CPP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extLst>
                  <a:ext uri="{0D108BD9-81ED-4DB2-BD59-A6C34878D82A}">
                    <a16:rowId xmlns:a16="http://schemas.microsoft.com/office/drawing/2014/main" val="880456547"/>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STD-003-CPP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0000"/>
                    </a:solidFill>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extLst>
                  <a:ext uri="{0D108BD9-81ED-4DB2-BD59-A6C34878D82A}">
                    <a16:rowId xmlns:a16="http://schemas.microsoft.com/office/drawing/2014/main" val="1237688176"/>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STD-004-CPP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dirty="0">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extLst>
                  <a:ext uri="{0D108BD9-81ED-4DB2-BD59-A6C34878D82A}">
                    <a16:rowId xmlns:a16="http://schemas.microsoft.com/office/drawing/2014/main" val="2645200410"/>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STD-005-CPP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extLst>
                  <a:ext uri="{0D108BD9-81ED-4DB2-BD59-A6C34878D82A}">
                    <a16:rowId xmlns:a16="http://schemas.microsoft.com/office/drawing/2014/main" val="873662009"/>
                  </a:ext>
                </a:extLst>
              </a:tr>
              <a:tr h="403623">
                <a:tc rowSpan="2">
                  <a:txBody>
                    <a:bodyPr/>
                    <a:lstStyle/>
                    <a:p>
                      <a:pPr algn="ctr" rtl="0" fontAlgn="ctr"/>
                      <a:r>
                        <a:rPr lang="en-US" sz="1100" b="0" i="0" u="none" strike="noStrike">
                          <a:solidFill>
                            <a:srgbClr val="000000"/>
                          </a:solidFill>
                          <a:effectLst/>
                          <a:latin typeface="Calibri" panose="020F0502020204030204" pitchFamily="34" charset="0"/>
                        </a:rPr>
                        <a:t>Probable</a:t>
                      </a:r>
                    </a:p>
                  </a:txBody>
                  <a:tcPr marL="9525" marR="9525" marT="9525" marB="0" anchor="ctr">
                    <a:lnL>
                      <a:noFill/>
                    </a:lnL>
                    <a:lnR>
                      <a:noFill/>
                    </a:lnR>
                    <a:lnT>
                      <a:noFill/>
                    </a:lnT>
                    <a:lnB>
                      <a:noFill/>
                    </a:lnB>
                    <a:solidFill>
                      <a:srgbClr val="D9D9D9"/>
                    </a:solidFill>
                  </a:tcPr>
                </a:tc>
                <a:tc>
                  <a:txBody>
                    <a:bodyPr/>
                    <a:lstStyle/>
                    <a:p>
                      <a:pPr algn="ctr" rtl="0" fontAlgn="b"/>
                      <a:r>
                        <a:rPr lang="en-US" sz="1100" b="0" i="0" u="none" strike="noStrike">
                          <a:solidFill>
                            <a:srgbClr val="000000"/>
                          </a:solidFill>
                          <a:effectLst/>
                          <a:latin typeface="Calibri" panose="020F0502020204030204" pitchFamily="34" charset="0"/>
                        </a:rPr>
                        <a:t>STD-009-CPP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tc>
                  <a:txBody>
                    <a:bodyPr/>
                    <a:lstStyle/>
                    <a:p>
                      <a:pPr algn="ctr" rtl="0" fontAlgn="b"/>
                      <a:r>
                        <a:rPr lang="en-US" sz="1100" b="0" i="0" u="none" strike="noStrike">
                          <a:solidFill>
                            <a:srgbClr val="000000"/>
                          </a:solidFill>
                          <a:effectLst/>
                          <a:latin typeface="Calibri" panose="020F0502020204030204" pitchFamily="34" charset="0"/>
                        </a:rPr>
                        <a:t>STD-007-CPP</a:t>
                      </a:r>
                    </a:p>
                  </a:txBody>
                  <a:tcPr marL="9525" marR="9525" marT="9525" marB="0" anchor="ctr">
                    <a:lnL>
                      <a:noFill/>
                    </a:lnL>
                    <a:lnR>
                      <a:noFill/>
                    </a:lnR>
                    <a:lnT>
                      <a:noFill/>
                    </a:lnT>
                    <a:lnB>
                      <a:noFill/>
                    </a:lnB>
                    <a:solidFill>
                      <a:srgbClr val="FFFF00"/>
                    </a:solidFill>
                  </a:tcPr>
                </a:tc>
                <a:extLst>
                  <a:ext uri="{0D108BD9-81ED-4DB2-BD59-A6C34878D82A}">
                    <a16:rowId xmlns:a16="http://schemas.microsoft.com/office/drawing/2014/main" val="3675545611"/>
                  </a:ext>
                </a:extLst>
              </a:tr>
              <a:tr h="403623">
                <a:tc vMerge="1">
                  <a:txBody>
                    <a:bodyPr/>
                    <a:lstStyle/>
                    <a:p>
                      <a:endParaRPr lang="en-US"/>
                    </a:p>
                  </a:txBody>
                  <a:tcPr/>
                </a:tc>
                <a:tc>
                  <a:txBody>
                    <a:bodyPr/>
                    <a:lstStyle/>
                    <a:p>
                      <a:pPr algn="ctr" rtl="0" fontAlgn="b"/>
                      <a:r>
                        <a:rPr lang="en-US" sz="1100" b="0" i="0" u="none" strike="noStrike">
                          <a:solidFill>
                            <a:srgbClr val="000000"/>
                          </a:solidFill>
                          <a:effectLst/>
                          <a:latin typeface="Calibri" panose="020F0502020204030204" pitchFamily="34" charset="0"/>
                        </a:rPr>
                        <a:t>STD-010-CPP</a:t>
                      </a:r>
                    </a:p>
                  </a:txBody>
                  <a:tcPr marL="9525" marR="9525" marT="9525" marB="0" anchor="ctr">
                    <a:lnL>
                      <a:noFill/>
                    </a:lnL>
                    <a:lnR>
                      <a:noFill/>
                    </a:lnR>
                    <a:lnT>
                      <a:noFill/>
                    </a:lnT>
                    <a:lnB>
                      <a:noFill/>
                    </a:lnB>
                    <a:solidFill>
                      <a:srgbClr val="FF0000"/>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tc>
                  <a:txBody>
                    <a:bodyPr/>
                    <a:lstStyle/>
                    <a:p>
                      <a:pPr algn="ctr" rtl="0"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FFFF00"/>
                    </a:solidFill>
                  </a:tcPr>
                </a:tc>
                <a:extLst>
                  <a:ext uri="{0D108BD9-81ED-4DB2-BD59-A6C34878D82A}">
                    <a16:rowId xmlns:a16="http://schemas.microsoft.com/office/drawing/2014/main" val="1695373438"/>
                  </a:ext>
                </a:extLst>
              </a:tr>
              <a:tr h="403623">
                <a:tc>
                  <a:txBody>
                    <a:bodyPr/>
                    <a:lstStyle/>
                    <a:p>
                      <a:pPr algn="ctr" rtl="0" fontAlgn="b"/>
                      <a:r>
                        <a:rPr lang="en-US" sz="1100" b="0" i="0" u="none" strike="noStrike">
                          <a:solidFill>
                            <a:srgbClr val="000000"/>
                          </a:solidFill>
                          <a:effectLst/>
                          <a:latin typeface="Calibri" panose="020F0502020204030204" pitchFamily="34" charset="0"/>
                        </a:rPr>
                        <a:t>Unlikely</a:t>
                      </a:r>
                    </a:p>
                  </a:txBody>
                  <a:tcPr marL="9525" marR="9525" marT="9525" marB="0" anchor="ctr">
                    <a:lnL>
                      <a:noFill/>
                    </a:lnL>
                    <a:lnR>
                      <a:noFill/>
                    </a:lnR>
                    <a:lnT>
                      <a:noFill/>
                    </a:lnT>
                    <a:lnB>
                      <a:noFill/>
                    </a:lnB>
                    <a:solidFill>
                      <a:srgbClr val="D9D9D9"/>
                    </a:solidFill>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ctr">
                    <a:lnL>
                      <a:noFill/>
                    </a:lnL>
                    <a:lnR>
                      <a:noFill/>
                    </a:lnR>
                    <a:lnT>
                      <a:noFill/>
                    </a:lnT>
                    <a:lnB>
                      <a:noFill/>
                    </a:lnB>
                    <a:solidFill>
                      <a:srgbClr val="ED7D31"/>
                    </a:solidFill>
                  </a:tcPr>
                </a:tc>
                <a:tc>
                  <a:txBody>
                    <a:bodyPr/>
                    <a:lstStyle/>
                    <a:p>
                      <a:pPr algn="ctr" rtl="0" fontAlgn="b"/>
                      <a:r>
                        <a:rPr lang="en-US" sz="1100" b="0" i="0" u="none" strike="noStrike">
                          <a:solidFill>
                            <a:srgbClr val="000000"/>
                          </a:solidFill>
                          <a:effectLst/>
                          <a:latin typeface="Calibri" panose="020F0502020204030204" pitchFamily="34" charset="0"/>
                        </a:rPr>
                        <a:t>STD-008-CPP</a:t>
                      </a:r>
                    </a:p>
                  </a:txBody>
                  <a:tcPr marL="9525" marR="9525" marT="9525" marB="0" anchor="ctr">
                    <a:lnL>
                      <a:noFill/>
                    </a:lnL>
                    <a:lnR>
                      <a:noFill/>
                    </a:lnR>
                    <a:lnT>
                      <a:noFill/>
                    </a:lnT>
                    <a:lnB>
                      <a:noFill/>
                    </a:lnB>
                    <a:solidFill>
                      <a:srgbClr val="FFFF00"/>
                    </a:solidFill>
                  </a:tcPr>
                </a:tc>
                <a:tc>
                  <a:txBody>
                    <a:bodyPr/>
                    <a:lstStyle/>
                    <a:p>
                      <a:pPr algn="ctr" rtl="0" fontAlgn="b"/>
                      <a:r>
                        <a:rPr lang="en-US" sz="1100" b="0" i="0" u="none" strike="noStrike" dirty="0">
                          <a:solidFill>
                            <a:srgbClr val="000000"/>
                          </a:solidFill>
                          <a:effectLst/>
                          <a:latin typeface="Calibri" panose="020F0502020204030204" pitchFamily="34" charset="0"/>
                        </a:rPr>
                        <a:t>STD-006-CPP</a:t>
                      </a:r>
                    </a:p>
                  </a:txBody>
                  <a:tcPr marL="9525" marR="9525" marT="9525" marB="0" anchor="ctr">
                    <a:lnL>
                      <a:noFill/>
                    </a:lnL>
                    <a:lnR>
                      <a:noFill/>
                    </a:lnR>
                    <a:lnT>
                      <a:noFill/>
                    </a:lnT>
                    <a:lnB>
                      <a:noFill/>
                    </a:lnB>
                    <a:solidFill>
                      <a:srgbClr val="FFFF00"/>
                    </a:solidFill>
                  </a:tcPr>
                </a:tc>
                <a:extLst>
                  <a:ext uri="{0D108BD9-81ED-4DB2-BD59-A6C34878D82A}">
                    <a16:rowId xmlns:a16="http://schemas.microsoft.com/office/drawing/2014/main" val="3738135600"/>
                  </a:ext>
                </a:extLst>
              </a:tr>
            </a:tbl>
          </a:graphicData>
        </a:graphic>
      </p:graphicFrame>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221325" y="2194560"/>
            <a:ext cx="11749349" cy="4024125"/>
          </a:xfrm>
          <a:prstGeom prst="rect">
            <a:avLst/>
          </a:prstGeom>
          <a:noFill/>
          <a:ln>
            <a:noFill/>
          </a:ln>
        </p:spPr>
        <p:txBody>
          <a:bodyPr spcFirstLastPara="1" wrap="square" lIns="91425" tIns="45700" rIns="91425" bIns="45700" numCol="2" anchor="t" anchorCtr="0">
            <a:normAutofit fontScale="85000" lnSpcReduction="20000"/>
          </a:bodyPr>
          <a:lstStyle/>
          <a:p>
            <a:pPr lvl="0" indent="-457200" algn="l" rtl="0">
              <a:lnSpc>
                <a:spcPct val="90000"/>
              </a:lnSpc>
              <a:spcBef>
                <a:spcPts val="0"/>
              </a:spcBef>
              <a:spcAft>
                <a:spcPts val="0"/>
              </a:spcAft>
              <a:buClr>
                <a:schemeClr val="lt1"/>
              </a:buClr>
              <a:buSzPts val="2200"/>
              <a:buFont typeface="+mj-lt"/>
              <a:buAutoNum type="arabicPeriod"/>
            </a:pPr>
            <a:r>
              <a:rPr lang="en-US" b="1" dirty="0"/>
              <a:t>Validate Input Data</a:t>
            </a:r>
          </a:p>
          <a:p>
            <a:pPr lvl="1" indent="-457200">
              <a:spcBef>
                <a:spcPts val="0"/>
              </a:spcBef>
              <a:buSzPts val="2200"/>
            </a:pPr>
            <a:r>
              <a:rPr lang="en-US" dirty="0"/>
              <a:t>STD-001-CPP</a:t>
            </a:r>
          </a:p>
          <a:p>
            <a:pPr lvl="1" indent="-457200">
              <a:spcBef>
                <a:spcPts val="0"/>
              </a:spcBef>
              <a:buSzPts val="2200"/>
            </a:pPr>
            <a:r>
              <a:rPr lang="en-US" dirty="0"/>
              <a:t>STD-002-CPP</a:t>
            </a:r>
          </a:p>
          <a:p>
            <a:pPr lvl="1" indent="-457200">
              <a:spcBef>
                <a:spcPts val="0"/>
              </a:spcBef>
              <a:buSzPts val="2200"/>
            </a:pPr>
            <a:r>
              <a:rPr lang="en-US" dirty="0"/>
              <a:t>STD-003-CPP</a:t>
            </a:r>
          </a:p>
          <a:p>
            <a:pPr lvl="1" indent="-457200">
              <a:spcBef>
                <a:spcPts val="0"/>
              </a:spcBef>
              <a:buSzPts val="2200"/>
            </a:pPr>
            <a:r>
              <a:rPr lang="en-US" dirty="0"/>
              <a:t>STD-004-CPP</a:t>
            </a:r>
          </a:p>
          <a:p>
            <a:pPr lvl="0" indent="-457200" algn="l" rtl="0">
              <a:lnSpc>
                <a:spcPct val="90000"/>
              </a:lnSpc>
              <a:spcBef>
                <a:spcPts val="0"/>
              </a:spcBef>
              <a:spcAft>
                <a:spcPts val="0"/>
              </a:spcAft>
              <a:buClr>
                <a:schemeClr val="lt1"/>
              </a:buClr>
              <a:buSzPts val="2200"/>
              <a:buFont typeface="+mj-lt"/>
              <a:buAutoNum type="arabicPeriod"/>
            </a:pPr>
            <a:r>
              <a:rPr lang="en-US" b="1" dirty="0"/>
              <a:t>Heed Compiler Warnings</a:t>
            </a:r>
          </a:p>
          <a:p>
            <a:pPr lvl="1" indent="-457200">
              <a:spcBef>
                <a:spcPts val="0"/>
              </a:spcBef>
              <a:buSzPts val="2200"/>
            </a:pPr>
            <a:r>
              <a:rPr lang="en-US" dirty="0"/>
              <a:t>STD-002-CPP</a:t>
            </a:r>
          </a:p>
          <a:p>
            <a:pPr lvl="1" indent="-457200">
              <a:spcBef>
                <a:spcPts val="0"/>
              </a:spcBef>
              <a:buSzPts val="2200"/>
            </a:pPr>
            <a:r>
              <a:rPr lang="en-US" dirty="0"/>
              <a:t>STD-003-CPP</a:t>
            </a:r>
          </a:p>
          <a:p>
            <a:pPr lvl="1" indent="-457200">
              <a:spcBef>
                <a:spcPts val="0"/>
              </a:spcBef>
              <a:buSzPts val="2200"/>
            </a:pPr>
            <a:r>
              <a:rPr lang="en-US" dirty="0"/>
              <a:t>STD-009-CPP</a:t>
            </a:r>
          </a:p>
          <a:p>
            <a:pPr lvl="0" indent="-457200" algn="l" rtl="0">
              <a:lnSpc>
                <a:spcPct val="90000"/>
              </a:lnSpc>
              <a:spcBef>
                <a:spcPts val="0"/>
              </a:spcBef>
              <a:spcAft>
                <a:spcPts val="0"/>
              </a:spcAft>
              <a:buClr>
                <a:schemeClr val="lt1"/>
              </a:buClr>
              <a:buSzPts val="2200"/>
              <a:buFont typeface="+mj-lt"/>
              <a:buAutoNum type="arabicPeriod"/>
            </a:pPr>
            <a:r>
              <a:rPr lang="en-US" b="1" dirty="0"/>
              <a:t>Architect and Design for Security Policies</a:t>
            </a:r>
          </a:p>
          <a:p>
            <a:pPr lvl="1" indent="-457200">
              <a:spcBef>
                <a:spcPts val="0"/>
              </a:spcBef>
              <a:buSzPts val="2200"/>
            </a:pPr>
            <a:r>
              <a:rPr lang="en-US" dirty="0"/>
              <a:t>STD-002-CPP</a:t>
            </a:r>
          </a:p>
          <a:p>
            <a:pPr lvl="1" indent="-457200">
              <a:spcBef>
                <a:spcPts val="0"/>
              </a:spcBef>
              <a:buSzPts val="2200"/>
            </a:pPr>
            <a:r>
              <a:rPr lang="en-US" dirty="0"/>
              <a:t>STD-004-CPP</a:t>
            </a:r>
          </a:p>
          <a:p>
            <a:pPr lvl="1" indent="-457200">
              <a:spcBef>
                <a:spcPts val="0"/>
              </a:spcBef>
              <a:buSzPts val="2200"/>
            </a:pPr>
            <a:r>
              <a:rPr lang="en-US" dirty="0"/>
              <a:t>STD-005-CPP</a:t>
            </a:r>
          </a:p>
          <a:p>
            <a:pPr lvl="1" indent="-457200">
              <a:spcBef>
                <a:spcPts val="0"/>
              </a:spcBef>
              <a:buSzPts val="2200"/>
            </a:pPr>
            <a:r>
              <a:rPr lang="en-US" dirty="0"/>
              <a:t>STD-006-CPP</a:t>
            </a:r>
          </a:p>
          <a:p>
            <a:pPr lvl="1" indent="-457200">
              <a:spcBef>
                <a:spcPts val="0"/>
              </a:spcBef>
              <a:buSzPts val="2200"/>
            </a:pPr>
            <a:r>
              <a:rPr lang="en-US" dirty="0"/>
              <a:t>STD-007-CPP</a:t>
            </a:r>
          </a:p>
          <a:p>
            <a:pPr lvl="1" indent="-457200">
              <a:spcBef>
                <a:spcPts val="0"/>
              </a:spcBef>
              <a:buSzPts val="2200"/>
            </a:pPr>
            <a:r>
              <a:rPr lang="en-US" dirty="0"/>
              <a:t>STD-010-CPP</a:t>
            </a:r>
          </a:p>
          <a:p>
            <a:pPr lvl="0" indent="-457200" algn="l" rtl="0">
              <a:lnSpc>
                <a:spcPct val="90000"/>
              </a:lnSpc>
              <a:spcBef>
                <a:spcPts val="0"/>
              </a:spcBef>
              <a:spcAft>
                <a:spcPts val="0"/>
              </a:spcAft>
              <a:buClr>
                <a:schemeClr val="lt1"/>
              </a:buClr>
              <a:buSzPts val="2200"/>
              <a:buFont typeface="+mj-lt"/>
              <a:buAutoNum type="arabicPeriod"/>
            </a:pPr>
            <a:r>
              <a:rPr lang="en-US" b="1" dirty="0"/>
              <a:t>Keep it Simple</a:t>
            </a:r>
          </a:p>
          <a:p>
            <a:pPr lvl="1" indent="-457200">
              <a:spcBef>
                <a:spcPts val="0"/>
              </a:spcBef>
              <a:buSzPts val="2200"/>
            </a:pPr>
            <a:r>
              <a:rPr lang="en-US" dirty="0"/>
              <a:t>STD-008-CPP</a:t>
            </a:r>
          </a:p>
          <a:p>
            <a:pPr lvl="1" indent="-457200">
              <a:spcBef>
                <a:spcPts val="0"/>
              </a:spcBef>
              <a:buSzPts val="2200"/>
            </a:pPr>
            <a:r>
              <a:rPr lang="en-US" dirty="0"/>
              <a:t>STD-010-CPP</a:t>
            </a:r>
          </a:p>
          <a:p>
            <a:pPr lvl="0" indent="-457200" algn="l" rtl="0">
              <a:lnSpc>
                <a:spcPct val="90000"/>
              </a:lnSpc>
              <a:spcBef>
                <a:spcPts val="0"/>
              </a:spcBef>
              <a:spcAft>
                <a:spcPts val="0"/>
              </a:spcAft>
              <a:buClr>
                <a:schemeClr val="lt1"/>
              </a:buClr>
              <a:buSzPts val="2200"/>
              <a:buFont typeface="+mj-lt"/>
              <a:buAutoNum type="arabicPeriod"/>
            </a:pPr>
            <a:r>
              <a:rPr lang="en-US" b="1" dirty="0"/>
              <a:t>Default Deny</a:t>
            </a:r>
          </a:p>
          <a:p>
            <a:pPr lvl="0" indent="-457200" algn="l" rtl="0">
              <a:lnSpc>
                <a:spcPct val="90000"/>
              </a:lnSpc>
              <a:spcBef>
                <a:spcPts val="0"/>
              </a:spcBef>
              <a:spcAft>
                <a:spcPts val="0"/>
              </a:spcAft>
              <a:buClr>
                <a:schemeClr val="lt1"/>
              </a:buClr>
              <a:buSzPts val="2200"/>
              <a:buFont typeface="+mj-lt"/>
              <a:buAutoNum type="arabicPeriod"/>
            </a:pPr>
            <a:r>
              <a:rPr lang="en-US" b="1" dirty="0"/>
              <a:t>Adhere to the Principle of Least Privilege</a:t>
            </a:r>
          </a:p>
          <a:p>
            <a:pPr lvl="0" indent="-457200" algn="l" rtl="0">
              <a:lnSpc>
                <a:spcPct val="90000"/>
              </a:lnSpc>
              <a:spcBef>
                <a:spcPts val="0"/>
              </a:spcBef>
              <a:spcAft>
                <a:spcPts val="0"/>
              </a:spcAft>
              <a:buClr>
                <a:schemeClr val="lt1"/>
              </a:buClr>
              <a:buSzPts val="2200"/>
              <a:buFont typeface="+mj-lt"/>
              <a:buAutoNum type="arabicPeriod"/>
            </a:pPr>
            <a:r>
              <a:rPr lang="en-US" b="1" dirty="0"/>
              <a:t>Sanitize Data Sent to Other Systems</a:t>
            </a:r>
          </a:p>
          <a:p>
            <a:pPr lvl="1" indent="-457200">
              <a:spcBef>
                <a:spcPts val="0"/>
              </a:spcBef>
              <a:buSzPts val="2200"/>
            </a:pPr>
            <a:r>
              <a:rPr lang="en-US" dirty="0"/>
              <a:t>STD-003-CPP</a:t>
            </a:r>
          </a:p>
          <a:p>
            <a:pPr lvl="0" indent="-457200" algn="l" rtl="0">
              <a:lnSpc>
                <a:spcPct val="90000"/>
              </a:lnSpc>
              <a:spcBef>
                <a:spcPts val="0"/>
              </a:spcBef>
              <a:spcAft>
                <a:spcPts val="0"/>
              </a:spcAft>
              <a:buClr>
                <a:schemeClr val="lt1"/>
              </a:buClr>
              <a:buSzPts val="2200"/>
              <a:buFont typeface="+mj-lt"/>
              <a:buAutoNum type="arabicPeriod"/>
            </a:pPr>
            <a:r>
              <a:rPr lang="en-US" b="1" dirty="0"/>
              <a:t>Practice Defense in Depth</a:t>
            </a:r>
          </a:p>
          <a:p>
            <a:pPr lvl="1" indent="-457200">
              <a:spcBef>
                <a:spcPts val="0"/>
              </a:spcBef>
              <a:buSzPts val="2200"/>
            </a:pPr>
            <a:r>
              <a:rPr lang="en-US" dirty="0"/>
              <a:t>STD-004-CPP</a:t>
            </a:r>
          </a:p>
          <a:p>
            <a:pPr lvl="0" indent="-457200" algn="l" rtl="0">
              <a:lnSpc>
                <a:spcPct val="90000"/>
              </a:lnSpc>
              <a:spcBef>
                <a:spcPts val="0"/>
              </a:spcBef>
              <a:spcAft>
                <a:spcPts val="0"/>
              </a:spcAft>
              <a:buClr>
                <a:schemeClr val="lt1"/>
              </a:buClr>
              <a:buSzPts val="2200"/>
              <a:buFont typeface="+mj-lt"/>
              <a:buAutoNum type="arabicPeriod"/>
            </a:pPr>
            <a:r>
              <a:rPr lang="en-US" b="1" dirty="0"/>
              <a:t>Use Effective Quality Assurance Techniques</a:t>
            </a:r>
          </a:p>
          <a:p>
            <a:pPr lvl="1" indent="-457200">
              <a:spcBef>
                <a:spcPts val="0"/>
              </a:spcBef>
              <a:buSzPts val="2200"/>
            </a:pPr>
            <a:r>
              <a:rPr lang="en-US" dirty="0"/>
              <a:t>STD-001-CPP</a:t>
            </a:r>
          </a:p>
          <a:p>
            <a:pPr lvl="1" indent="-457200">
              <a:spcBef>
                <a:spcPts val="0"/>
              </a:spcBef>
              <a:buSzPts val="2200"/>
            </a:pPr>
            <a:r>
              <a:rPr lang="en-US" dirty="0"/>
              <a:t>STD-002-CPP</a:t>
            </a:r>
          </a:p>
          <a:p>
            <a:pPr lvl="1" indent="-457200">
              <a:spcBef>
                <a:spcPts val="0"/>
              </a:spcBef>
              <a:buSzPts val="2200"/>
            </a:pPr>
            <a:r>
              <a:rPr lang="en-US" dirty="0"/>
              <a:t>STD-003-CPP</a:t>
            </a:r>
          </a:p>
          <a:p>
            <a:pPr lvl="1" indent="-457200">
              <a:spcBef>
                <a:spcPts val="0"/>
              </a:spcBef>
              <a:buSzPts val="2200"/>
            </a:pPr>
            <a:r>
              <a:rPr lang="en-US" dirty="0"/>
              <a:t>STD-005-CPP</a:t>
            </a:r>
          </a:p>
          <a:p>
            <a:pPr lvl="1" indent="-457200">
              <a:spcBef>
                <a:spcPts val="0"/>
              </a:spcBef>
              <a:buSzPts val="2200"/>
            </a:pPr>
            <a:r>
              <a:rPr lang="en-US" dirty="0"/>
              <a:t>STD-006-CPP</a:t>
            </a:r>
          </a:p>
          <a:p>
            <a:pPr lvl="1" indent="-457200">
              <a:spcBef>
                <a:spcPts val="0"/>
              </a:spcBef>
              <a:buSzPts val="2200"/>
            </a:pPr>
            <a:r>
              <a:rPr lang="en-US" dirty="0"/>
              <a:t>STD-007-CPP</a:t>
            </a:r>
          </a:p>
          <a:p>
            <a:pPr lvl="0" indent="-457200" algn="l" rtl="0">
              <a:lnSpc>
                <a:spcPct val="90000"/>
              </a:lnSpc>
              <a:spcBef>
                <a:spcPts val="0"/>
              </a:spcBef>
              <a:spcAft>
                <a:spcPts val="0"/>
              </a:spcAft>
              <a:buClr>
                <a:schemeClr val="lt1"/>
              </a:buClr>
              <a:buSzPts val="2200"/>
              <a:buFont typeface="+mj-lt"/>
              <a:buAutoNum type="arabicPeriod"/>
            </a:pPr>
            <a:r>
              <a:rPr lang="en-US" b="1" dirty="0"/>
              <a:t>Adopt a Secure Coding Standard</a:t>
            </a:r>
          </a:p>
          <a:p>
            <a:pPr lvl="1" indent="-457200">
              <a:spcBef>
                <a:spcPts val="0"/>
              </a:spcBef>
              <a:buSzPts val="2200"/>
            </a:pPr>
            <a:r>
              <a:rPr lang="en-US" dirty="0"/>
              <a:t>STD-005-CPP</a:t>
            </a:r>
          </a:p>
          <a:p>
            <a:pPr lvl="1" indent="-457200">
              <a:spcBef>
                <a:spcPts val="0"/>
              </a:spcBef>
              <a:buSzPts val="2200"/>
            </a:pPr>
            <a:r>
              <a:rPr lang="en-US" dirty="0"/>
              <a:t>STD-006-CPP</a:t>
            </a:r>
          </a:p>
          <a:p>
            <a:pPr lvl="1" indent="-457200">
              <a:spcBef>
                <a:spcPts val="0"/>
              </a:spcBef>
              <a:buSzPts val="2200"/>
            </a:pPr>
            <a:r>
              <a:rPr lang="en-US" dirty="0"/>
              <a:t>STD-007-CPP</a:t>
            </a:r>
          </a:p>
          <a:p>
            <a:pPr lvl="1" indent="-457200">
              <a:spcBef>
                <a:spcPts val="0"/>
              </a:spcBef>
              <a:buSzPts val="2200"/>
            </a:pPr>
            <a:r>
              <a:rPr lang="en-US" dirty="0"/>
              <a:t>STD-009-CPP</a:t>
            </a:r>
          </a:p>
          <a:p>
            <a:pPr lvl="1" indent="-457200">
              <a:spcBef>
                <a:spcPts val="0"/>
              </a:spcBef>
              <a:buSzPts val="2200"/>
            </a:pPr>
            <a:r>
              <a:rPr lang="en-US" dirty="0"/>
              <a:t>STD-010-CPP</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Table 3">
            <a:extLst>
              <a:ext uri="{FF2B5EF4-FFF2-40B4-BE49-F238E27FC236}">
                <a16:creationId xmlns:a16="http://schemas.microsoft.com/office/drawing/2014/main" id="{080166BB-3EF9-FC24-BB48-0627F10C4383}"/>
              </a:ext>
            </a:extLst>
          </p:cNvPr>
          <p:cNvGraphicFramePr>
            <a:graphicFrameLocks noGrp="1"/>
          </p:cNvGraphicFramePr>
          <p:nvPr>
            <p:extLst>
              <p:ext uri="{D42A27DB-BD31-4B8C-83A1-F6EECF244321}">
                <p14:modId xmlns:p14="http://schemas.microsoft.com/office/powerpoint/2010/main" val="2098934957"/>
              </p:ext>
            </p:extLst>
          </p:nvPr>
        </p:nvGraphicFramePr>
        <p:xfrm>
          <a:off x="2130552" y="2070266"/>
          <a:ext cx="7735825" cy="3836758"/>
        </p:xfrm>
        <a:graphic>
          <a:graphicData uri="http://schemas.openxmlformats.org/drawingml/2006/table">
            <a:tbl>
              <a:tblPr firstRow="1" firstCol="1" bandRow="1"/>
              <a:tblGrid>
                <a:gridCol w="1316736">
                  <a:extLst>
                    <a:ext uri="{9D8B030D-6E8A-4147-A177-3AD203B41FA5}">
                      <a16:colId xmlns:a16="http://schemas.microsoft.com/office/drawing/2014/main" val="35156465"/>
                    </a:ext>
                  </a:extLst>
                </a:gridCol>
                <a:gridCol w="1005840">
                  <a:extLst>
                    <a:ext uri="{9D8B030D-6E8A-4147-A177-3AD203B41FA5}">
                      <a16:colId xmlns:a16="http://schemas.microsoft.com/office/drawing/2014/main" val="635145264"/>
                    </a:ext>
                  </a:extLst>
                </a:gridCol>
                <a:gridCol w="1243584">
                  <a:extLst>
                    <a:ext uri="{9D8B030D-6E8A-4147-A177-3AD203B41FA5}">
                      <a16:colId xmlns:a16="http://schemas.microsoft.com/office/drawing/2014/main" val="3118704663"/>
                    </a:ext>
                  </a:extLst>
                </a:gridCol>
                <a:gridCol w="1408176">
                  <a:extLst>
                    <a:ext uri="{9D8B030D-6E8A-4147-A177-3AD203B41FA5}">
                      <a16:colId xmlns:a16="http://schemas.microsoft.com/office/drawing/2014/main" val="1062087721"/>
                    </a:ext>
                  </a:extLst>
                </a:gridCol>
                <a:gridCol w="1426464">
                  <a:extLst>
                    <a:ext uri="{9D8B030D-6E8A-4147-A177-3AD203B41FA5}">
                      <a16:colId xmlns:a16="http://schemas.microsoft.com/office/drawing/2014/main" val="2403073785"/>
                    </a:ext>
                  </a:extLst>
                </a:gridCol>
                <a:gridCol w="1335025">
                  <a:extLst>
                    <a:ext uri="{9D8B030D-6E8A-4147-A177-3AD203B41FA5}">
                      <a16:colId xmlns:a16="http://schemas.microsoft.com/office/drawing/2014/main" val="4218902765"/>
                    </a:ext>
                  </a:extLst>
                </a:gridCol>
              </a:tblGrid>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Rule</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Severity</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Likelihood</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Remediation Cost</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Priority</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Level</a:t>
                      </a:r>
                      <a:endParaRPr lang="en-US" sz="1200">
                        <a:effectLst/>
                        <a:latin typeface="Calibri" panose="020F0502020204030204" pitchFamily="34" charset="0"/>
                        <a:ea typeface="Calibri" panose="020F0502020204030204" pitchFamily="34"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D9D9D9"/>
                    </a:solidFill>
                  </a:tcPr>
                </a:tc>
                <a:extLst>
                  <a:ext uri="{0D108BD9-81ED-4DB2-BD59-A6C34878D82A}">
                    <a16:rowId xmlns:a16="http://schemas.microsoft.com/office/drawing/2014/main" val="3798280889"/>
                  </a:ext>
                </a:extLst>
              </a:tr>
              <a:tr h="337916">
                <a:tc>
                  <a:txBody>
                    <a:bodyPr/>
                    <a:lstStyle/>
                    <a:p>
                      <a:pPr marL="0" marR="0" algn="ctr">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rPr>
                        <a:t>STD-001-CPP</a:t>
                      </a:r>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P9</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L2</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3432100062"/>
                  </a:ext>
                </a:extLst>
              </a:tr>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STD-002-CPP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P9</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L2</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2972776939"/>
                  </a:ext>
                </a:extLst>
              </a:tr>
              <a:tr h="337916">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STD-003-CPP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P18</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L1</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2438345451"/>
                  </a:ext>
                </a:extLst>
              </a:tr>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STD-004-CPP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P18</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L1</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2874292938"/>
                  </a:ext>
                </a:extLst>
              </a:tr>
              <a:tr h="337916">
                <a:tc>
                  <a:txBody>
                    <a:bodyPr/>
                    <a:lstStyle/>
                    <a:p>
                      <a:pPr marL="0" marR="0" algn="ctr">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rPr>
                        <a:t>STD-005-CPP</a:t>
                      </a:r>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P18</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L1</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4106418502"/>
                  </a:ext>
                </a:extLst>
              </a:tr>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STD-006-CPP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Low</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Unlikely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P1</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L3</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3018751858"/>
                  </a:ext>
                </a:extLst>
              </a:tr>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STD-007-CPP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Low</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Probable</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P4</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L3</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65690675"/>
                  </a:ext>
                </a:extLst>
              </a:tr>
              <a:tr h="337916">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STD-008-CPP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Unlikely</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Medium</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P4</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L3</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2292975517"/>
                  </a:ext>
                </a:extLst>
              </a:tr>
              <a:tr h="357863">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STD-009-CPP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Probable</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P6</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L2</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801427757"/>
                  </a:ext>
                </a:extLst>
              </a:tr>
              <a:tr h="337916">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STD-010-CPP</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Probable</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High</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rPr>
                        <a:t>P6</a:t>
                      </a:r>
                      <a:endParaRPr lang="en-US" sz="120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tc>
                  <a:txBody>
                    <a:bodyPr/>
                    <a:lstStyle/>
                    <a:p>
                      <a:pPr marL="0" marR="0" algn="ctr">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rPr>
                        <a:t>L2</a:t>
                      </a:r>
                      <a:endParaRPr lang="en-US" sz="1200" dirty="0">
                        <a:effectLst/>
                        <a:latin typeface="Calibri" panose="020F0502020204030204" pitchFamily="34" charset="0"/>
                        <a:ea typeface="Calibri" panose="020F0502020204030204" pitchFamily="34" charset="0"/>
                      </a:endParaRPr>
                    </a:p>
                  </a:txBody>
                  <a:tcPr marL="68580" marR="68580" marT="0" marB="0" anchor="ctr">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385064195"/>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lt1"/>
              </a:buClr>
              <a:buSzPts val="2000"/>
              <a:buChar char="•"/>
            </a:pPr>
            <a:r>
              <a:rPr lang="en-US" sz="2400" dirty="0"/>
              <a:t>Encryption in rest protects stored data, such as hard drives, phones, computers, etc.</a:t>
            </a:r>
          </a:p>
          <a:p>
            <a:pPr marL="228600" lvl="0" indent="-228600" algn="l" rtl="0">
              <a:lnSpc>
                <a:spcPct val="200000"/>
              </a:lnSpc>
              <a:spcBef>
                <a:spcPts val="0"/>
              </a:spcBef>
              <a:spcAft>
                <a:spcPts val="0"/>
              </a:spcAft>
              <a:buClr>
                <a:schemeClr val="lt1"/>
              </a:buClr>
              <a:buSzPts val="2000"/>
              <a:buChar char="•"/>
            </a:pPr>
            <a:r>
              <a:rPr lang="en-US" sz="2400" dirty="0"/>
              <a:t>Encryption at flight protects data that is moving between devices, such as email encryption, DLP solutions, and network security features.</a:t>
            </a:r>
          </a:p>
          <a:p>
            <a:pPr marL="228600" lvl="0" indent="-228600" algn="l" rtl="0">
              <a:lnSpc>
                <a:spcPct val="200000"/>
              </a:lnSpc>
              <a:spcBef>
                <a:spcPts val="0"/>
              </a:spcBef>
              <a:spcAft>
                <a:spcPts val="0"/>
              </a:spcAft>
              <a:buClr>
                <a:schemeClr val="lt1"/>
              </a:buClr>
              <a:buSzPts val="2000"/>
              <a:buChar char="•"/>
            </a:pPr>
            <a:r>
              <a:rPr lang="en-US" sz="2400" dirty="0"/>
              <a:t>Encryption in use protects data that is created, edited, or in-use. </a:t>
            </a:r>
            <a:endParaRPr sz="24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chemeClr val="lt1"/>
              </a:buClr>
              <a:buSzPts val="2400"/>
              <a:buChar char="•"/>
            </a:pPr>
            <a:r>
              <a:rPr lang="en-US" sz="2400" dirty="0"/>
              <a:t>Authentication is the act of confirming one’s identity. </a:t>
            </a:r>
          </a:p>
          <a:p>
            <a:pPr marL="228600" lvl="0" indent="-228600" algn="l" rtl="0">
              <a:lnSpc>
                <a:spcPct val="200000"/>
              </a:lnSpc>
              <a:spcBef>
                <a:spcPts val="0"/>
              </a:spcBef>
              <a:spcAft>
                <a:spcPts val="0"/>
              </a:spcAft>
              <a:buClr>
                <a:schemeClr val="lt1"/>
              </a:buClr>
              <a:buSzPts val="2400"/>
              <a:buChar char="•"/>
            </a:pPr>
            <a:r>
              <a:rPr lang="en-US" sz="2400" dirty="0"/>
              <a:t>Authorization specifies the access control rights and privileges of a user.</a:t>
            </a:r>
          </a:p>
          <a:p>
            <a:pPr marL="228600" lvl="0" indent="-228600" algn="l" rtl="0">
              <a:lnSpc>
                <a:spcPct val="200000"/>
              </a:lnSpc>
              <a:spcBef>
                <a:spcPts val="0"/>
              </a:spcBef>
              <a:spcAft>
                <a:spcPts val="0"/>
              </a:spcAft>
              <a:buClr>
                <a:schemeClr val="lt1"/>
              </a:buClr>
              <a:buSzPts val="2400"/>
              <a:buChar char="•"/>
            </a:pPr>
            <a:r>
              <a:rPr lang="en-US" sz="2400" dirty="0"/>
              <a:t>Accounting keeps track of system activity.</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Unit testing verifies and validates components of a program or application, in order to ensure the app will act and respond as intended.</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Testing done with Google Test, linked below</a:t>
            </a:r>
          </a:p>
          <a:p>
            <a:pPr marL="0" lvl="0" indent="0" algn="l" rtl="0">
              <a:lnSpc>
                <a:spcPct val="90000"/>
              </a:lnSpc>
              <a:spcBef>
                <a:spcPts val="1000"/>
              </a:spcBef>
              <a:spcAft>
                <a:spcPts val="0"/>
              </a:spcAft>
              <a:buSzPts val="1800"/>
              <a:buNone/>
            </a:pPr>
            <a:r>
              <a:rPr lang="en-US" sz="1600" dirty="0">
                <a:hlinkClick r:id="rId4"/>
              </a:rPr>
              <a:t>https://github.com/google/googletest/</a:t>
            </a:r>
            <a:r>
              <a:rPr lang="en-US" sz="1600" dirty="0"/>
              <a:t> </a:t>
            </a:r>
          </a:p>
        </p:txBody>
      </p:sp>
      <p:pic>
        <p:nvPicPr>
          <p:cNvPr id="197" name="Google Shape;197;g9504e29505_0_0"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err="1"/>
              <a:t>CheckMaxSize</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1000"/>
              </a:spcBef>
              <a:spcAft>
                <a:spcPts val="0"/>
              </a:spcAft>
              <a:buSzPts val="1800"/>
              <a:buNone/>
            </a:pPr>
            <a:r>
              <a:rPr lang="en-US" dirty="0"/>
              <a:t>Test to verify max size is greater or equal to size for x number of entries.</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7" name="Picture 6">
            <a:extLst>
              <a:ext uri="{FF2B5EF4-FFF2-40B4-BE49-F238E27FC236}">
                <a16:creationId xmlns:a16="http://schemas.microsoft.com/office/drawing/2014/main" id="{CE84E9F9-8CCC-4A86-8415-785B445138C4}"/>
              </a:ext>
            </a:extLst>
          </p:cNvPr>
          <p:cNvPicPr>
            <a:picLocks noChangeAspect="1"/>
          </p:cNvPicPr>
          <p:nvPr/>
        </p:nvPicPr>
        <p:blipFill rotWithShape="1">
          <a:blip r:embed="rId5">
            <a:extLst>
              <a:ext uri="{28A0092B-C50C-407E-A947-70E740481C1C}">
                <a14:useLocalDpi xmlns:a14="http://schemas.microsoft.com/office/drawing/2010/main" val="0"/>
              </a:ext>
            </a:extLst>
          </a:blip>
          <a:srcRect t="28171" r="37654" b="68079"/>
          <a:stretch/>
        </p:blipFill>
        <p:spPr bwMode="auto">
          <a:xfrm>
            <a:off x="3735110" y="2863723"/>
            <a:ext cx="4721779" cy="304067"/>
          </a:xfrm>
          <a:prstGeom prst="rect">
            <a:avLst/>
          </a:prstGeom>
          <a:noFill/>
          <a:ln>
            <a:noFill/>
          </a:ln>
        </p:spPr>
      </p:pic>
      <p:pic>
        <p:nvPicPr>
          <p:cNvPr id="4" name="Picture 3" descr="A screenshot of a computer program&#10;&#10;Description automatically generated with medium confidence">
            <a:extLst>
              <a:ext uri="{FF2B5EF4-FFF2-40B4-BE49-F238E27FC236}">
                <a16:creationId xmlns:a16="http://schemas.microsoft.com/office/drawing/2014/main" id="{C3F89129-A2D0-607D-D130-011721C21F10}"/>
              </a:ext>
            </a:extLst>
          </p:cNvPr>
          <p:cNvPicPr>
            <a:picLocks noChangeAspect="1"/>
          </p:cNvPicPr>
          <p:nvPr/>
        </p:nvPicPr>
        <p:blipFill>
          <a:blip r:embed="rId6"/>
          <a:stretch>
            <a:fillRect/>
          </a:stretch>
        </p:blipFill>
        <p:spPr>
          <a:xfrm>
            <a:off x="2895600" y="3322710"/>
            <a:ext cx="6394205" cy="3081545"/>
          </a:xfrm>
          <a:prstGeom prst="rect">
            <a:avLst/>
          </a:prstGeom>
        </p:spPr>
      </p:pic>
    </p:spTree>
    <p:custDataLst>
      <p:tags r:id="rId1"/>
    </p:custDataLst>
    <p:extLst>
      <p:ext uri="{BB962C8B-B14F-4D97-AF65-F5344CB8AC3E}">
        <p14:creationId xmlns:p14="http://schemas.microsoft.com/office/powerpoint/2010/main" val="3193919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err="1"/>
              <a:t>OutOfRange</a:t>
            </a:r>
            <a:endParaRPr dirty="0"/>
          </a:p>
        </p:txBody>
      </p:sp>
      <p:sp>
        <p:nvSpPr>
          <p:cNvPr id="196" name="Google Shape;196;g9504e29505_0_0"/>
          <p:cNvSpPr txBox="1">
            <a:spLocks noGrp="1"/>
          </p:cNvSpPr>
          <p:nvPr>
            <p:ph type="body" idx="1"/>
          </p:nvPr>
        </p:nvSpPr>
        <p:spPr>
          <a:xfrm>
            <a:off x="685800" y="2350778"/>
            <a:ext cx="10820400" cy="99300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1000"/>
              </a:spcBef>
              <a:spcAft>
                <a:spcPts val="0"/>
              </a:spcAft>
              <a:buSzPts val="1800"/>
              <a:buNone/>
            </a:pPr>
            <a:r>
              <a:rPr lang="en-US" dirty="0"/>
              <a:t>Test to verify an out-of-range exception is thrown when calling out of bounds.</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7" name="Picture 6">
            <a:extLst>
              <a:ext uri="{FF2B5EF4-FFF2-40B4-BE49-F238E27FC236}">
                <a16:creationId xmlns:a16="http://schemas.microsoft.com/office/drawing/2014/main" id="{BCBF25F1-11C3-4FAB-A5CC-2FE5411C6603}"/>
              </a:ext>
            </a:extLst>
          </p:cNvPr>
          <p:cNvPicPr>
            <a:picLocks noChangeAspect="1"/>
          </p:cNvPicPr>
          <p:nvPr/>
        </p:nvPicPr>
        <p:blipFill rotWithShape="1">
          <a:blip r:embed="rId5">
            <a:extLst>
              <a:ext uri="{28A0092B-C50C-407E-A947-70E740481C1C}">
                <a14:useLocalDpi xmlns:a14="http://schemas.microsoft.com/office/drawing/2010/main" val="0"/>
              </a:ext>
            </a:extLst>
          </a:blip>
          <a:srcRect l="1" t="60278" r="45146" b="35603"/>
          <a:stretch/>
        </p:blipFill>
        <p:spPr bwMode="auto">
          <a:xfrm>
            <a:off x="3662465" y="3343785"/>
            <a:ext cx="4867067" cy="391169"/>
          </a:xfrm>
          <a:prstGeom prst="rect">
            <a:avLst/>
          </a:prstGeom>
          <a:noFill/>
          <a:ln>
            <a:noFill/>
          </a:ln>
        </p:spPr>
      </p:pic>
      <p:pic>
        <p:nvPicPr>
          <p:cNvPr id="4" name="Picture 3" descr="A screen shot of a computer&#10;&#10;Description automatically generated with low confidence">
            <a:extLst>
              <a:ext uri="{FF2B5EF4-FFF2-40B4-BE49-F238E27FC236}">
                <a16:creationId xmlns:a16="http://schemas.microsoft.com/office/drawing/2014/main" id="{2C27A0DF-473E-66F3-E315-ACC3414882E2}"/>
              </a:ext>
            </a:extLst>
          </p:cNvPr>
          <p:cNvPicPr>
            <a:picLocks noChangeAspect="1"/>
          </p:cNvPicPr>
          <p:nvPr/>
        </p:nvPicPr>
        <p:blipFill>
          <a:blip r:embed="rId6"/>
          <a:stretch>
            <a:fillRect/>
          </a:stretch>
        </p:blipFill>
        <p:spPr>
          <a:xfrm>
            <a:off x="1537649" y="4152799"/>
            <a:ext cx="9116697" cy="1448002"/>
          </a:xfrm>
          <a:prstGeom prst="rect">
            <a:avLst/>
          </a:prstGeom>
        </p:spPr>
      </p:pic>
    </p:spTree>
    <p:custDataLst>
      <p:tags r:id="rId1"/>
    </p:custDataLst>
    <p:extLst>
      <p:ext uri="{BB962C8B-B14F-4D97-AF65-F5344CB8AC3E}">
        <p14:creationId xmlns:p14="http://schemas.microsoft.com/office/powerpoint/2010/main" val="3234613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92418-3056-6813-CDBC-603C1E8BB2C0}"/>
              </a:ext>
            </a:extLst>
          </p:cNvPr>
          <p:cNvSpPr>
            <a:spLocks noGrp="1"/>
          </p:cNvSpPr>
          <p:nvPr>
            <p:ph type="title"/>
          </p:nvPr>
        </p:nvSpPr>
        <p:spPr/>
        <p:txBody>
          <a:bodyPr/>
          <a:lstStyle/>
          <a:p>
            <a:r>
              <a:rPr lang="en-US" dirty="0" err="1"/>
              <a:t>CanAddToEmptyVector</a:t>
            </a:r>
            <a:endParaRPr lang="en-US" dirty="0"/>
          </a:p>
        </p:txBody>
      </p:sp>
      <p:sp>
        <p:nvSpPr>
          <p:cNvPr id="3" name="Text Placeholder 2">
            <a:extLst>
              <a:ext uri="{FF2B5EF4-FFF2-40B4-BE49-F238E27FC236}">
                <a16:creationId xmlns:a16="http://schemas.microsoft.com/office/drawing/2014/main" id="{A8669E08-921A-E8BD-EA6A-9ADB9F7CD059}"/>
              </a:ext>
            </a:extLst>
          </p:cNvPr>
          <p:cNvSpPr>
            <a:spLocks noGrp="1"/>
          </p:cNvSpPr>
          <p:nvPr>
            <p:ph type="body" idx="1"/>
          </p:nvPr>
        </p:nvSpPr>
        <p:spPr/>
        <p:txBody>
          <a:bodyPr/>
          <a:lstStyle/>
          <a:p>
            <a:pPr marL="114300" indent="0" algn="ctr">
              <a:buNone/>
            </a:pPr>
            <a:r>
              <a:rPr lang="en-US" dirty="0"/>
              <a:t>Test to verify that empty vectors can have values entered into them</a:t>
            </a:r>
          </a:p>
        </p:txBody>
      </p:sp>
      <p:pic>
        <p:nvPicPr>
          <p:cNvPr id="7" name="Picture 6" descr="A picture containing text, screenshot, font&#10;&#10;Description automatically generated">
            <a:extLst>
              <a:ext uri="{FF2B5EF4-FFF2-40B4-BE49-F238E27FC236}">
                <a16:creationId xmlns:a16="http://schemas.microsoft.com/office/drawing/2014/main" id="{65543ECF-8C07-AA32-DCBD-AC2B41282A1B}"/>
              </a:ext>
            </a:extLst>
          </p:cNvPr>
          <p:cNvPicPr>
            <a:picLocks noChangeAspect="1"/>
          </p:cNvPicPr>
          <p:nvPr/>
        </p:nvPicPr>
        <p:blipFill>
          <a:blip r:embed="rId2"/>
          <a:stretch>
            <a:fillRect/>
          </a:stretch>
        </p:blipFill>
        <p:spPr>
          <a:xfrm>
            <a:off x="3584575" y="3895127"/>
            <a:ext cx="5022850" cy="2198500"/>
          </a:xfrm>
          <a:prstGeom prst="rect">
            <a:avLst/>
          </a:prstGeom>
        </p:spPr>
      </p:pic>
      <p:pic>
        <p:nvPicPr>
          <p:cNvPr id="9" name="Picture 8">
            <a:extLst>
              <a:ext uri="{FF2B5EF4-FFF2-40B4-BE49-F238E27FC236}">
                <a16:creationId xmlns:a16="http://schemas.microsoft.com/office/drawing/2014/main" id="{D49F9399-8DCA-94DB-D918-21A7700DC07A}"/>
              </a:ext>
            </a:extLst>
          </p:cNvPr>
          <p:cNvPicPr>
            <a:picLocks noChangeAspect="1"/>
          </p:cNvPicPr>
          <p:nvPr/>
        </p:nvPicPr>
        <p:blipFill>
          <a:blip r:embed="rId3"/>
          <a:stretch>
            <a:fillRect/>
          </a:stretch>
        </p:blipFill>
        <p:spPr>
          <a:xfrm>
            <a:off x="3671549" y="3228947"/>
            <a:ext cx="4848902" cy="400106"/>
          </a:xfrm>
          <a:prstGeom prst="rect">
            <a:avLst/>
          </a:prstGeom>
        </p:spPr>
      </p:pic>
    </p:spTree>
    <p:extLst>
      <p:ext uri="{BB962C8B-B14F-4D97-AF65-F5344CB8AC3E}">
        <p14:creationId xmlns:p14="http://schemas.microsoft.com/office/powerpoint/2010/main" val="421975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3FE8-2173-C9A6-84F4-D54539E23B54}"/>
              </a:ext>
            </a:extLst>
          </p:cNvPr>
          <p:cNvSpPr>
            <a:spLocks noGrp="1"/>
          </p:cNvSpPr>
          <p:nvPr>
            <p:ph type="title"/>
          </p:nvPr>
        </p:nvSpPr>
        <p:spPr/>
        <p:txBody>
          <a:bodyPr/>
          <a:lstStyle/>
          <a:p>
            <a:r>
              <a:rPr lang="en-US" dirty="0" err="1"/>
              <a:t>MultiplyEntries</a:t>
            </a:r>
            <a:endParaRPr lang="en-US" dirty="0"/>
          </a:p>
        </p:txBody>
      </p:sp>
      <p:sp>
        <p:nvSpPr>
          <p:cNvPr id="3" name="Text Placeholder 2">
            <a:extLst>
              <a:ext uri="{FF2B5EF4-FFF2-40B4-BE49-F238E27FC236}">
                <a16:creationId xmlns:a16="http://schemas.microsoft.com/office/drawing/2014/main" id="{8B403ABE-FEF6-1BAC-0C9D-FB51468920E9}"/>
              </a:ext>
            </a:extLst>
          </p:cNvPr>
          <p:cNvSpPr>
            <a:spLocks noGrp="1"/>
          </p:cNvSpPr>
          <p:nvPr>
            <p:ph type="body" idx="1"/>
          </p:nvPr>
        </p:nvSpPr>
        <p:spPr/>
        <p:txBody>
          <a:bodyPr/>
          <a:lstStyle/>
          <a:p>
            <a:pPr marL="114300" indent="0" algn="ctr">
              <a:buNone/>
            </a:pPr>
            <a:r>
              <a:rPr lang="en-US" dirty="0"/>
              <a:t>Test to verify that you can add multiplicative entries to collections</a:t>
            </a:r>
          </a:p>
        </p:txBody>
      </p:sp>
      <p:pic>
        <p:nvPicPr>
          <p:cNvPr id="5" name="Picture 4" descr="A picture containing text, screenshot, font&#10;&#10;Description automatically generated">
            <a:extLst>
              <a:ext uri="{FF2B5EF4-FFF2-40B4-BE49-F238E27FC236}">
                <a16:creationId xmlns:a16="http://schemas.microsoft.com/office/drawing/2014/main" id="{8A4C777E-B1C5-C8E8-2E8D-3F8B05640043}"/>
              </a:ext>
            </a:extLst>
          </p:cNvPr>
          <p:cNvPicPr>
            <a:picLocks noChangeAspect="1"/>
          </p:cNvPicPr>
          <p:nvPr/>
        </p:nvPicPr>
        <p:blipFill>
          <a:blip r:embed="rId2"/>
          <a:stretch>
            <a:fillRect/>
          </a:stretch>
        </p:blipFill>
        <p:spPr>
          <a:xfrm>
            <a:off x="4478209" y="3830396"/>
            <a:ext cx="3235582" cy="2263231"/>
          </a:xfrm>
          <a:prstGeom prst="rect">
            <a:avLst/>
          </a:prstGeom>
        </p:spPr>
      </p:pic>
      <p:pic>
        <p:nvPicPr>
          <p:cNvPr id="7" name="Picture 6">
            <a:extLst>
              <a:ext uri="{FF2B5EF4-FFF2-40B4-BE49-F238E27FC236}">
                <a16:creationId xmlns:a16="http://schemas.microsoft.com/office/drawing/2014/main" id="{927210FB-6D5C-F52C-A485-A71028C9F0C4}"/>
              </a:ext>
            </a:extLst>
          </p:cNvPr>
          <p:cNvPicPr>
            <a:picLocks noChangeAspect="1"/>
          </p:cNvPicPr>
          <p:nvPr/>
        </p:nvPicPr>
        <p:blipFill>
          <a:blip r:embed="rId3"/>
          <a:stretch>
            <a:fillRect/>
          </a:stretch>
        </p:blipFill>
        <p:spPr>
          <a:xfrm>
            <a:off x="3804918" y="3228947"/>
            <a:ext cx="4582164" cy="400106"/>
          </a:xfrm>
          <a:prstGeom prst="rect">
            <a:avLst/>
          </a:prstGeom>
        </p:spPr>
      </p:pic>
    </p:spTree>
    <p:extLst>
      <p:ext uri="{BB962C8B-B14F-4D97-AF65-F5344CB8AC3E}">
        <p14:creationId xmlns:p14="http://schemas.microsoft.com/office/powerpoint/2010/main" val="2458536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lt1"/>
              </a:buClr>
              <a:buSzPts val="2000"/>
              <a:buNone/>
            </a:pPr>
            <a:r>
              <a:rPr lang="en-US" dirty="0"/>
              <a:t>According to RedHat.com, </a:t>
            </a:r>
            <a:r>
              <a:rPr lang="en-US" dirty="0" err="1"/>
              <a:t>DevSecOps</a:t>
            </a:r>
            <a:r>
              <a:rPr lang="en-US" dirty="0"/>
              <a:t> means thinking about application and infrastructure security from the start.</a:t>
            </a:r>
          </a:p>
          <a:p>
            <a:pPr marL="457200" lvl="1" indent="0" algn="l" rtl="0">
              <a:lnSpc>
                <a:spcPct val="90000"/>
              </a:lnSpc>
              <a:spcBef>
                <a:spcPts val="0"/>
              </a:spcBef>
              <a:spcAft>
                <a:spcPts val="0"/>
              </a:spcAft>
              <a:buClr>
                <a:schemeClr val="lt1"/>
              </a:buClr>
              <a:buSzPts val="2000"/>
              <a:buNone/>
            </a:pPr>
            <a:endParaRPr lang="en-US" dirty="0"/>
          </a:p>
          <a:p>
            <a:pPr marL="457200" lvl="1" indent="0" algn="l" rtl="0">
              <a:lnSpc>
                <a:spcPct val="90000"/>
              </a:lnSpc>
              <a:spcBef>
                <a:spcPts val="0"/>
              </a:spcBef>
              <a:spcAft>
                <a:spcPts val="0"/>
              </a:spcAft>
              <a:buClr>
                <a:schemeClr val="lt1"/>
              </a:buClr>
              <a:buSzPts val="2000"/>
              <a:buNone/>
            </a:pPr>
            <a:r>
              <a:rPr lang="en-US" dirty="0" err="1"/>
              <a:t>CPPCheck</a:t>
            </a:r>
            <a:r>
              <a:rPr lang="en-US" dirty="0"/>
              <a:t> is used primarily for static code analysis. (</a:t>
            </a:r>
            <a:r>
              <a:rPr lang="en-US" dirty="0">
                <a:hlinkClick r:id="rId4"/>
              </a:rPr>
              <a:t>https://cppcheck.sourceforge.io/</a:t>
            </a:r>
            <a:r>
              <a:rPr lang="en-US" dirty="0"/>
              <a:t>) </a:t>
            </a:r>
          </a:p>
          <a:p>
            <a:pPr marL="457200" lvl="1" indent="0" algn="l" rtl="0">
              <a:lnSpc>
                <a:spcPct val="90000"/>
              </a:lnSpc>
              <a:spcBef>
                <a:spcPts val="0"/>
              </a:spcBef>
              <a:spcAft>
                <a:spcPts val="0"/>
              </a:spcAft>
              <a:buClr>
                <a:schemeClr val="lt1"/>
              </a:buClr>
              <a:buSzPts val="2000"/>
              <a:buNone/>
            </a:pPr>
            <a:endParaRPr lang="en-US" dirty="0"/>
          </a:p>
          <a:p>
            <a:pPr marL="457200" lvl="1" indent="0" algn="l" rtl="0">
              <a:lnSpc>
                <a:spcPct val="90000"/>
              </a:lnSpc>
              <a:spcBef>
                <a:spcPts val="0"/>
              </a:spcBef>
              <a:spcAft>
                <a:spcPts val="0"/>
              </a:spcAft>
              <a:buClr>
                <a:schemeClr val="lt1"/>
              </a:buClr>
              <a:buSzPts val="2000"/>
              <a:buNone/>
            </a:pPr>
            <a:r>
              <a:rPr lang="en-US" dirty="0"/>
              <a:t>Clang is a front-end compiler</a:t>
            </a:r>
          </a:p>
          <a:p>
            <a:pPr marL="457200" lvl="1" indent="0" algn="l" rtl="0">
              <a:lnSpc>
                <a:spcPct val="90000"/>
              </a:lnSpc>
              <a:spcBef>
                <a:spcPts val="0"/>
              </a:spcBef>
              <a:spcAft>
                <a:spcPts val="0"/>
              </a:spcAft>
              <a:buClr>
                <a:schemeClr val="lt1"/>
              </a:buClr>
              <a:buSzPts val="2000"/>
              <a:buNone/>
            </a:pPr>
            <a:r>
              <a:rPr lang="en-US" dirty="0"/>
              <a:t>(</a:t>
            </a:r>
            <a:r>
              <a:rPr lang="en-US" dirty="0">
                <a:hlinkClick r:id="rId5"/>
              </a:rPr>
              <a:t>https://clang.llvm.org/</a:t>
            </a:r>
            <a:r>
              <a:rPr lang="en-US" dirty="0"/>
              <a:t>)</a:t>
            </a:r>
          </a:p>
          <a:p>
            <a:pPr marL="457200" lvl="1" indent="0" algn="l" rtl="0">
              <a:lnSpc>
                <a:spcPct val="90000"/>
              </a:lnSpc>
              <a:spcBef>
                <a:spcPts val="0"/>
              </a:spcBef>
              <a:spcAft>
                <a:spcPts val="0"/>
              </a:spcAft>
              <a:buClr>
                <a:schemeClr val="lt1"/>
              </a:buClr>
              <a:buSzPts val="2000"/>
              <a:buNone/>
            </a:pPr>
            <a:endParaRPr lang="en-US" dirty="0"/>
          </a:p>
          <a:p>
            <a:pPr marL="457200" lvl="1" indent="0" algn="l" rtl="0">
              <a:lnSpc>
                <a:spcPct val="90000"/>
              </a:lnSpc>
              <a:spcBef>
                <a:spcPts val="0"/>
              </a:spcBef>
              <a:spcAft>
                <a:spcPts val="0"/>
              </a:spcAft>
              <a:buClr>
                <a:schemeClr val="lt1"/>
              </a:buClr>
              <a:buSzPts val="2000"/>
              <a:buNone/>
            </a:pPr>
            <a:r>
              <a:rPr lang="en-US" dirty="0" err="1"/>
              <a:t>Parasoft</a:t>
            </a:r>
            <a:r>
              <a:rPr lang="en-US" dirty="0"/>
              <a:t> is a full-on automated testing suite</a:t>
            </a:r>
          </a:p>
          <a:p>
            <a:pPr marL="457200" lvl="1" indent="0" algn="l" rtl="0">
              <a:lnSpc>
                <a:spcPct val="90000"/>
              </a:lnSpc>
              <a:spcBef>
                <a:spcPts val="0"/>
              </a:spcBef>
              <a:spcAft>
                <a:spcPts val="0"/>
              </a:spcAft>
              <a:buClr>
                <a:schemeClr val="lt1"/>
              </a:buClr>
              <a:buSzPts val="2000"/>
              <a:buNone/>
            </a:pPr>
            <a:r>
              <a:rPr lang="en-US" dirty="0"/>
              <a:t>(</a:t>
            </a:r>
            <a:r>
              <a:rPr lang="en-US" dirty="0">
                <a:hlinkClick r:id="rId6"/>
              </a:rPr>
              <a:t>https://www.parasoft.com/</a:t>
            </a:r>
            <a:r>
              <a:rPr lang="en-US" dirty="0"/>
              <a:t>)</a:t>
            </a:r>
          </a:p>
        </p:txBody>
      </p:sp>
      <p:pic>
        <p:nvPicPr>
          <p:cNvPr id="211" name="Google Shape;211;p10"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numCol="2"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Risks of waiting to deploy security</a:t>
            </a:r>
          </a:p>
          <a:p>
            <a:pPr marL="685800" lvl="1" indent="-228600">
              <a:spcBef>
                <a:spcPts val="0"/>
              </a:spcBef>
              <a:buSzPts val="2000"/>
            </a:pPr>
            <a:r>
              <a:rPr lang="en-US" sz="1800" dirty="0"/>
              <a:t>Harm to data</a:t>
            </a:r>
          </a:p>
          <a:p>
            <a:pPr marL="685800" lvl="1" indent="-228600">
              <a:spcBef>
                <a:spcPts val="0"/>
              </a:spcBef>
              <a:buSzPts val="2000"/>
            </a:pPr>
            <a:r>
              <a:rPr lang="en-US" sz="1800" dirty="0"/>
              <a:t>Harm to trust</a:t>
            </a:r>
          </a:p>
          <a:p>
            <a:pPr marL="685800" lvl="1" indent="-228600">
              <a:spcBef>
                <a:spcPts val="0"/>
              </a:spcBef>
              <a:buSzPts val="2000"/>
            </a:pPr>
            <a:r>
              <a:rPr lang="en-US" sz="1800" dirty="0"/>
              <a:t>Financial cost of fixing breach</a:t>
            </a:r>
          </a:p>
          <a:p>
            <a:pPr marL="685800" lvl="1" indent="-228600">
              <a:spcBef>
                <a:spcPts val="0"/>
              </a:spcBef>
              <a:buSzPts val="2000"/>
            </a:pPr>
            <a:r>
              <a:rPr lang="en-US" sz="1800" dirty="0"/>
              <a:t>Potential customer damages</a:t>
            </a:r>
          </a:p>
          <a:p>
            <a:pPr marL="685800" lvl="1" indent="-228600">
              <a:spcBef>
                <a:spcPts val="0"/>
              </a:spcBef>
              <a:buSzPts val="2000"/>
            </a:pPr>
            <a:r>
              <a:rPr lang="en-US" sz="1800" dirty="0"/>
              <a:t>Potential for multiple future attacks</a:t>
            </a:r>
          </a:p>
          <a:p>
            <a:pPr marL="228600" lvl="0" indent="-228600" algn="l" rtl="0">
              <a:lnSpc>
                <a:spcPct val="90000"/>
              </a:lnSpc>
              <a:spcBef>
                <a:spcPts val="0"/>
              </a:spcBef>
              <a:spcAft>
                <a:spcPts val="0"/>
              </a:spcAft>
              <a:buClr>
                <a:schemeClr val="lt1"/>
              </a:buClr>
              <a:buSzPts val="2000"/>
              <a:buChar char="•"/>
            </a:pPr>
            <a:r>
              <a:rPr lang="en-US" sz="2000" dirty="0"/>
              <a:t>Benefits to early action</a:t>
            </a:r>
          </a:p>
          <a:p>
            <a:pPr marL="685800" lvl="1" indent="-228600">
              <a:spcBef>
                <a:spcPts val="0"/>
              </a:spcBef>
              <a:buSzPts val="2000"/>
            </a:pPr>
            <a:r>
              <a:rPr lang="en-US" sz="1800" dirty="0"/>
              <a:t>Mitigate potential damage and cost</a:t>
            </a:r>
          </a:p>
          <a:p>
            <a:pPr marL="685800" lvl="1" indent="-228600">
              <a:spcBef>
                <a:spcPts val="0"/>
              </a:spcBef>
              <a:buSzPts val="2000"/>
            </a:pPr>
            <a:r>
              <a:rPr lang="en-US" sz="1800" dirty="0"/>
              <a:t>Secure user data</a:t>
            </a:r>
          </a:p>
          <a:p>
            <a:pPr marL="685800" lvl="1" indent="-228600">
              <a:spcBef>
                <a:spcPts val="0"/>
              </a:spcBef>
              <a:buSzPts val="2000"/>
            </a:pPr>
            <a:r>
              <a:rPr lang="en-US" sz="1800" dirty="0"/>
              <a:t>Security structure is implemented</a:t>
            </a:r>
          </a:p>
          <a:p>
            <a:pPr marL="685800" lvl="1" indent="-228600">
              <a:spcBef>
                <a:spcPts val="0"/>
              </a:spcBef>
              <a:buSzPts val="2000"/>
            </a:pPr>
            <a:r>
              <a:rPr lang="en-US" sz="1800" dirty="0"/>
              <a:t>Reduce possible overhead testing</a:t>
            </a:r>
          </a:p>
          <a:p>
            <a:pPr marL="685800" lvl="1" indent="-228600">
              <a:spcBef>
                <a:spcPts val="0"/>
              </a:spcBef>
              <a:buSzPts val="2000"/>
            </a:pPr>
            <a:r>
              <a:rPr lang="en-US" sz="1800" dirty="0"/>
              <a:t>Helps to prevent more vulnerable areas</a:t>
            </a:r>
          </a:p>
          <a:p>
            <a:pPr marL="685800" lvl="1" indent="-228600">
              <a:spcBef>
                <a:spcPts val="0"/>
              </a:spcBef>
              <a:buSzPts val="2000"/>
            </a:pPr>
            <a:endParaRPr lang="en-US" sz="1800" dirty="0"/>
          </a:p>
          <a:p>
            <a:pPr marL="685800" lvl="1" indent="-228600">
              <a:spcBef>
                <a:spcPts val="0"/>
              </a:spcBef>
              <a:buSzPts val="2000"/>
            </a:pPr>
            <a:endParaRPr lang="en-US" sz="1800" dirty="0"/>
          </a:p>
          <a:p>
            <a:pPr marL="685800" lvl="1" indent="-228600">
              <a:spcBef>
                <a:spcPts val="0"/>
              </a:spcBef>
              <a:buSzPts val="2000"/>
            </a:pPr>
            <a:endParaRPr lang="en-US" sz="1800" dirty="0"/>
          </a:p>
          <a:p>
            <a:pPr marL="228600" lvl="0" indent="-228600" algn="l" rtl="0">
              <a:lnSpc>
                <a:spcPct val="90000"/>
              </a:lnSpc>
              <a:spcBef>
                <a:spcPts val="0"/>
              </a:spcBef>
              <a:spcAft>
                <a:spcPts val="0"/>
              </a:spcAft>
              <a:buClr>
                <a:schemeClr val="lt1"/>
              </a:buClr>
              <a:buSzPts val="2000"/>
              <a:buChar char="•"/>
            </a:pPr>
            <a:r>
              <a:rPr lang="en-US" sz="2000" dirty="0"/>
              <a:t>Example Case</a:t>
            </a:r>
          </a:p>
          <a:p>
            <a:pPr marL="685800" lvl="1" indent="-228600">
              <a:spcBef>
                <a:spcPts val="0"/>
              </a:spcBef>
              <a:buSzPts val="2000"/>
            </a:pPr>
            <a:r>
              <a:rPr lang="en-US" dirty="0"/>
              <a:t>Microsoft Customer Records Data Breach from 28 – 30 December, 2020</a:t>
            </a:r>
          </a:p>
          <a:p>
            <a:pPr marL="685800" lvl="1" indent="-228600">
              <a:spcBef>
                <a:spcPts val="0"/>
              </a:spcBef>
              <a:buSzPts val="2000"/>
            </a:pPr>
            <a:r>
              <a:rPr lang="en-US" dirty="0"/>
              <a:t>Data accrued by Microsoft from 2005 through 2019 from customer support was attacked and stolen, including email addresses, IP addresses, and internal confidential documents.</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just" rtl="0">
              <a:lnSpc>
                <a:spcPct val="90000"/>
              </a:lnSpc>
              <a:spcBef>
                <a:spcPts val="0"/>
              </a:spcBef>
              <a:spcAft>
                <a:spcPts val="0"/>
              </a:spcAft>
              <a:buClr>
                <a:schemeClr val="lt1"/>
              </a:buClr>
              <a:buSzPts val="1800"/>
              <a:buChar char="•"/>
            </a:pPr>
            <a:r>
              <a:rPr lang="en-US" sz="2400" dirty="0"/>
              <a:t>The largest gap in the security policy is not enforcing regular reviews and updates.</a:t>
            </a:r>
          </a:p>
          <a:p>
            <a:pPr marL="1143000" lvl="2" indent="-228600" algn="just" rtl="0">
              <a:lnSpc>
                <a:spcPct val="90000"/>
              </a:lnSpc>
              <a:spcBef>
                <a:spcPts val="0"/>
              </a:spcBef>
              <a:spcAft>
                <a:spcPts val="0"/>
              </a:spcAft>
              <a:buClr>
                <a:schemeClr val="lt1"/>
              </a:buClr>
              <a:buSzPts val="1800"/>
              <a:buChar char="•"/>
            </a:pPr>
            <a:endParaRPr lang="en-US" sz="2400" dirty="0"/>
          </a:p>
          <a:p>
            <a:pPr marL="1143000" lvl="2" indent="-228600" algn="just" rtl="0">
              <a:lnSpc>
                <a:spcPct val="90000"/>
              </a:lnSpc>
              <a:spcBef>
                <a:spcPts val="0"/>
              </a:spcBef>
              <a:spcAft>
                <a:spcPts val="0"/>
              </a:spcAft>
              <a:buClr>
                <a:schemeClr val="lt1"/>
              </a:buClr>
              <a:buSzPts val="1800"/>
              <a:buChar char="•"/>
            </a:pPr>
            <a:r>
              <a:rPr lang="en-US" sz="2400" dirty="0"/>
              <a:t>Utilization of white-hat organizations as an outside source to review the security policy could help provide a real-world test to find potential vulnerabilities and security risks.</a:t>
            </a:r>
          </a:p>
          <a:p>
            <a:pPr marL="1143000" lvl="2" indent="-228600" algn="just" rtl="0">
              <a:lnSpc>
                <a:spcPct val="90000"/>
              </a:lnSpc>
              <a:spcBef>
                <a:spcPts val="0"/>
              </a:spcBef>
              <a:spcAft>
                <a:spcPts val="0"/>
              </a:spcAft>
              <a:buClr>
                <a:schemeClr val="lt1"/>
              </a:buClr>
              <a:buSzPts val="1800"/>
              <a:buChar char="•"/>
            </a:pPr>
            <a:endParaRPr lang="en-US" sz="2400" dirty="0"/>
          </a:p>
          <a:p>
            <a:pPr marL="1143000" lvl="2" indent="-228600" algn="just" rtl="0">
              <a:lnSpc>
                <a:spcPct val="90000"/>
              </a:lnSpc>
              <a:spcBef>
                <a:spcPts val="0"/>
              </a:spcBef>
              <a:spcAft>
                <a:spcPts val="0"/>
              </a:spcAft>
              <a:buClr>
                <a:schemeClr val="lt1"/>
              </a:buClr>
              <a:buSzPts val="1800"/>
              <a:buChar char="•"/>
            </a:pPr>
            <a:r>
              <a:rPr lang="en-US" sz="2400" dirty="0"/>
              <a:t>Early implementation of these security policies can help ensure security is consistently at the forefront of company policy, and ease potential customer tensions.</a:t>
            </a:r>
            <a:endParaRPr sz="2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88900" algn="l" rtl="0">
              <a:lnSpc>
                <a:spcPct val="90000"/>
              </a:lnSpc>
              <a:spcBef>
                <a:spcPts val="1000"/>
              </a:spcBef>
              <a:spcAft>
                <a:spcPts val="0"/>
              </a:spcAft>
              <a:buClr>
                <a:schemeClr val="lt1"/>
              </a:buClr>
              <a:buSzPts val="2200"/>
              <a:buNone/>
            </a:pPr>
            <a:r>
              <a:rPr lang="en-US" dirty="0"/>
              <a:t>1. Adopting best practices and coding standards.</a:t>
            </a:r>
          </a:p>
          <a:p>
            <a:pPr marL="228600" lvl="0" indent="-88900" algn="l" rtl="0">
              <a:lnSpc>
                <a:spcPct val="90000"/>
              </a:lnSpc>
              <a:spcBef>
                <a:spcPts val="1000"/>
              </a:spcBef>
              <a:spcAft>
                <a:spcPts val="0"/>
              </a:spcAft>
              <a:buClr>
                <a:schemeClr val="lt1"/>
              </a:buClr>
              <a:buSzPts val="2200"/>
              <a:buNone/>
            </a:pPr>
            <a:r>
              <a:rPr lang="en-US" dirty="0"/>
              <a:t>2. Defense in Depth</a:t>
            </a:r>
          </a:p>
          <a:p>
            <a:pPr marL="228600" lvl="0" indent="-88900" algn="l" rtl="0">
              <a:lnSpc>
                <a:spcPct val="90000"/>
              </a:lnSpc>
              <a:spcBef>
                <a:spcPts val="1000"/>
              </a:spcBef>
              <a:spcAft>
                <a:spcPts val="0"/>
              </a:spcAft>
              <a:buClr>
                <a:schemeClr val="lt1"/>
              </a:buClr>
              <a:buSzPts val="2200"/>
              <a:buNone/>
            </a:pPr>
            <a:r>
              <a:rPr lang="en-US" dirty="0"/>
              <a:t>3. Considering attack motives during development and security reviews</a:t>
            </a:r>
          </a:p>
          <a:p>
            <a:pPr marL="228600" lvl="0" indent="-88900" algn="l" rtl="0">
              <a:lnSpc>
                <a:spcPct val="90000"/>
              </a:lnSpc>
              <a:spcBef>
                <a:spcPts val="1000"/>
              </a:spcBef>
              <a:spcAft>
                <a:spcPts val="0"/>
              </a:spcAft>
              <a:buClr>
                <a:schemeClr val="lt1"/>
              </a:buClr>
              <a:buSzPts val="2200"/>
              <a:buNone/>
            </a:pPr>
            <a:endParaRPr lang="en-US" dirty="0"/>
          </a:p>
          <a:p>
            <a:pPr marL="228600" lvl="0" indent="-88900" algn="l" rtl="0">
              <a:lnSpc>
                <a:spcPct val="90000"/>
              </a:lnSpc>
              <a:spcBef>
                <a:spcPts val="1000"/>
              </a:spcBef>
              <a:spcAft>
                <a:spcPts val="0"/>
              </a:spcAft>
              <a:buClr>
                <a:schemeClr val="lt1"/>
              </a:buClr>
              <a:buSzPts val="2200"/>
              <a:buNone/>
            </a:pPr>
            <a:r>
              <a:rPr lang="en-US" dirty="0"/>
              <a:t>These three aspects can aid in transitioning Green Pace from a DevOps organization to a </a:t>
            </a:r>
            <a:r>
              <a:rPr lang="en-US" dirty="0" err="1"/>
              <a:t>DevSecOps</a:t>
            </a:r>
            <a:r>
              <a:rPr lang="en-US" dirty="0"/>
              <a:t> one.</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0" indent="-457200">
              <a:spcBef>
                <a:spcPts val="0"/>
              </a:spcBef>
              <a:spcAft>
                <a:spcPts val="600"/>
              </a:spcAft>
              <a:buSzPts val="2200"/>
              <a:buNone/>
            </a:pPr>
            <a:r>
              <a:rPr lang="en-US" sz="2400" dirty="0" err="1"/>
              <a:t>Argintaru</a:t>
            </a:r>
            <a:r>
              <a:rPr lang="en-US" sz="2400" dirty="0"/>
              <a:t>, D. (2021). Data Encryption: How to Protect Data in Transit, Data in Use and Data at Rest. Mimecast.com. </a:t>
            </a:r>
            <a:r>
              <a:rPr lang="en-US" sz="2400" dirty="0">
                <a:hlinkClick r:id="rId4"/>
              </a:rPr>
              <a:t>https://www.mimecast.com/blog/data-in-transit-vs-motion-vs-rest/</a:t>
            </a:r>
            <a:endParaRPr lang="en-US" sz="2400" dirty="0"/>
          </a:p>
          <a:p>
            <a:pPr marL="0" indent="-457200">
              <a:spcBef>
                <a:spcPts val="0"/>
              </a:spcBef>
              <a:spcAft>
                <a:spcPts val="600"/>
              </a:spcAft>
              <a:buSzPts val="2200"/>
              <a:buNone/>
            </a:pPr>
            <a:endParaRPr lang="en-US" sz="2400" dirty="0"/>
          </a:p>
          <a:p>
            <a:pPr marL="0" indent="-457200">
              <a:spcBef>
                <a:spcPts val="0"/>
              </a:spcBef>
              <a:spcAft>
                <a:spcPts val="600"/>
              </a:spcAft>
              <a:buSzPts val="2200"/>
              <a:buNone/>
            </a:pPr>
            <a:r>
              <a:rPr lang="en-US" sz="2400" dirty="0"/>
              <a:t>Authentication, Authorization, Accounting and Identity Management. (2018, April 3). CCSI. </a:t>
            </a:r>
            <a:r>
              <a:rPr lang="en-US" sz="2400" dirty="0">
                <a:hlinkClick r:id="rId5"/>
              </a:rPr>
              <a:t>https://www.ccsinet.com/blog/aaa-identity-management/</a:t>
            </a:r>
            <a:r>
              <a:rPr lang="en-US" sz="2400" dirty="0"/>
              <a:t> </a:t>
            </a:r>
            <a:endParaRPr lang="en-US" dirty="0">
              <a:effectLst/>
            </a:endParaRPr>
          </a:p>
          <a:p>
            <a:pPr marL="0" indent="0">
              <a:spcBef>
                <a:spcPts val="0"/>
              </a:spcBef>
              <a:buSzPts val="2200"/>
              <a:buNone/>
            </a:pPr>
            <a:endParaRPr lang="en-US" dirty="0"/>
          </a:p>
          <a:p>
            <a:pPr marL="0" indent="0">
              <a:spcBef>
                <a:spcPts val="0"/>
              </a:spcBef>
              <a:buSzPts val="2200"/>
              <a:buNone/>
            </a:pPr>
            <a:r>
              <a:rPr lang="en-US" dirty="0" err="1">
                <a:effectLst/>
              </a:rPr>
              <a:t>Symanovich</a:t>
            </a:r>
            <a:r>
              <a:rPr lang="en-US" dirty="0">
                <a:effectLst/>
              </a:rPr>
              <a:t>, S. (2021, February 4). </a:t>
            </a:r>
            <a:r>
              <a:rPr lang="en-US" i="1" dirty="0">
                <a:effectLst/>
              </a:rPr>
              <a:t>Microsoft accidentally exposed 250 million customer records - what you should know</a:t>
            </a:r>
            <a:r>
              <a:rPr lang="en-US" dirty="0">
                <a:effectLst/>
              </a:rPr>
              <a:t>. Data Breaches. </a:t>
            </a:r>
            <a:r>
              <a:rPr lang="en-US" dirty="0">
                <a:effectLst/>
                <a:hlinkClick r:id="rId6"/>
              </a:rPr>
              <a:t>https://lifelock.norton.com/learn/data-breaches/microsoft-exposed-250-million-customer-records</a:t>
            </a:r>
            <a:r>
              <a:rPr lang="en-US" dirty="0">
                <a:effectLst/>
              </a:rPr>
              <a:t> </a:t>
            </a:r>
          </a:p>
          <a:p>
            <a:pPr marL="0" lvl="0" indent="0" algn="l" rtl="0">
              <a:lnSpc>
                <a:spcPct val="90000"/>
              </a:lnSpc>
              <a:spcBef>
                <a:spcPts val="0"/>
              </a:spcBef>
              <a:spcAft>
                <a:spcPts val="0"/>
              </a:spcAft>
              <a:buClr>
                <a:schemeClr val="lt1"/>
              </a:buClr>
              <a:buSzPts val="2200"/>
              <a:buNone/>
            </a:pPr>
            <a:endParaRPr lang="en-US" dirty="0"/>
          </a:p>
          <a:p>
            <a:pPr marL="0" indent="0">
              <a:spcBef>
                <a:spcPts val="0"/>
              </a:spcBef>
              <a:buSzPts val="2200"/>
              <a:buNone/>
            </a:pPr>
            <a:r>
              <a:rPr lang="en-US" sz="2400" dirty="0"/>
              <a:t>What is </a:t>
            </a:r>
            <a:r>
              <a:rPr lang="en-US" sz="2400" dirty="0" err="1"/>
              <a:t>DevSecOps</a:t>
            </a:r>
            <a:r>
              <a:rPr lang="en-US" sz="2400" dirty="0"/>
              <a:t>? (2021). Redhat.com. </a:t>
            </a:r>
            <a:r>
              <a:rPr lang="en-US" sz="2400" dirty="0">
                <a:hlinkClick r:id="rId7"/>
              </a:rPr>
              <a:t>https://www.redhat.com/en/topics/devops/what-is-devsecops</a:t>
            </a:r>
            <a:r>
              <a:rPr lang="en-US" sz="2400" dirty="0"/>
              <a:t> </a:t>
            </a:r>
          </a:p>
          <a:p>
            <a:pPr marL="0" lvl="0" indent="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300</TotalTime>
  <Words>845</Words>
  <Application>Microsoft Office PowerPoint</Application>
  <PresentationFormat>Widescreen</PresentationFormat>
  <Paragraphs>219</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CheckMaxSize</vt:lpstr>
      <vt:lpstr>OutOfRange</vt:lpstr>
      <vt:lpstr>CanAddToEmptyVector</vt:lpstr>
      <vt:lpstr>MultiplyEntries</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Shawn Carrier</cp:lastModifiedBy>
  <cp:revision>22</cp:revision>
  <dcterms:created xsi:type="dcterms:W3CDTF">2020-08-19T17:59:24Z</dcterms:created>
  <dcterms:modified xsi:type="dcterms:W3CDTF">2023-06-17T19:28:18Z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